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4" r:id="rId2"/>
    <p:sldId id="275" r:id="rId3"/>
    <p:sldId id="263" r:id="rId4"/>
    <p:sldId id="280" r:id="rId5"/>
    <p:sldId id="271" r:id="rId6"/>
    <p:sldId id="272" r:id="rId7"/>
    <p:sldId id="278" r:id="rId8"/>
    <p:sldId id="273" r:id="rId9"/>
    <p:sldId id="283" r:id="rId10"/>
    <p:sldId id="284" r:id="rId11"/>
    <p:sldId id="286" r:id="rId12"/>
    <p:sldId id="285" r:id="rId13"/>
    <p:sldId id="281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5C0000"/>
    <a:srgbClr val="0C0734"/>
    <a:srgbClr val="0B7B6B"/>
    <a:srgbClr val="68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2822A-0E04-5A41-CB37-7BF8E9C491D6}" v="8" dt="2026-04-02T20:56:16.039"/>
    <p1510:client id="{29AE0CC4-6C2F-D14B-87E2-E100A0C22ED3}" v="10" dt="2026-04-02T17:12:57.647"/>
    <p1510:client id="{7CA4BABC-09F3-481E-B46A-6296A6CC68E0}" v="139" dt="2026-04-02T05:40:05.892"/>
    <p1510:client id="{94A58547-16EC-426B-BFB0-205C3E83E7D4}" v="1857" dt="2026-04-02T21:14:40.834"/>
    <p1510:client id="{A853469F-E11C-92C2-0E57-7A84D15F22AE}" v="238" dt="2026-04-02T20:48:07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815" autoAdjust="0"/>
  </p:normalViewPr>
  <p:slideViewPr>
    <p:cSldViewPr snapToGrid="0">
      <p:cViewPr varScale="1">
        <p:scale>
          <a:sx n="49" d="100"/>
          <a:sy n="49" d="100"/>
        </p:scale>
        <p:origin x="1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79DFE-5F1E-4E98-94CA-DD777561572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8600C-458D-4E16-B6CB-9B7653006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14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F9D0-3D10-31E3-3E26-FC28311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7B6DD-4A25-7BA9-0D69-7289F022C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2448B-1B07-9BE9-DD71-6D9AA26F5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BigQuery_Quest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Presenting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8BF10-F616-5459-EA46-B4E5C06C6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4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works,  why it’s useful,  how it compares to other systems and Whether it is a good fit for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TechRetail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2085-ADAF-DDFD-BE21-ED2E0DBD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182B1-7C0F-7CB6-6ED5-3CD9FFFA8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AC13A-9607-3012-2120-93F129C44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</a:t>
            </a:r>
            <a:r>
              <a:rPr lang="en-US" sz="1200"/>
              <a:t>advanced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 SQL database. </a:t>
            </a: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What’s unique about it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that it supports Hybrid Transactional and Analytical Processing workloads (HTAP),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a combination of both OLTP </a:t>
            </a:r>
            <a:r>
              <a:rPr lang="en-US"/>
              <a:t>day-to-day tasks </a:t>
            </a:r>
            <a:r>
              <a:rPr lang="en-US" err="1"/>
              <a:t>nserts</a:t>
            </a:r>
            <a:r>
              <a:rPr lang="en-US"/>
              <a:t>, updates, and queries and OLAP deep analytical work, within the same system.</a:t>
            </a:r>
          </a:p>
          <a:p>
            <a:endParaRPr lang="en-US"/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"Ti" stands for Titanium.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PingCAP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Titanium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 metaphor for what they wanted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be: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Highly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reliable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database,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 heavy workloads without breaking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You’ll commonly see in industries like finance, where transaction accuracy is critical, in e-commerce where platforms have to handle heavy traffic, and in SaaS or internet applications that rely on real-time analytics.</a:t>
            </a:r>
          </a:p>
          <a:p>
            <a:r>
              <a:rPr lang="en-US"/>
              <a:t>It’s also used by major companies like Bolt, LinkedIn, Pinterest, and Square, and many more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8EFFF-1752-33A8-9F50-827BF0F39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79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75D7-9949-FA0C-2950-FCEC1B08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9D949-9F56-CBB0-2DD2-B2C735288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218E4-BDD4-BAB3-0022-022925C00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TiDB</a:t>
            </a:r>
            <a:r>
              <a:rPr lang="en-US"/>
              <a:t> is made up of THREE components, each with a distinct role.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>
                <a:solidFill>
                  <a:srgbClr val="1E2426"/>
                </a:solidFill>
                <a:effectLst/>
              </a:rPr>
              <a:t>What’s interesting is </a:t>
            </a:r>
            <a:r>
              <a:rPr lang="en-US" b="0" i="0" u="none" strike="noStrike" err="1">
                <a:solidFill>
                  <a:srgbClr val="1E2426"/>
                </a:solidFill>
                <a:effectLst/>
              </a:rPr>
              <a:t>thatThe</a:t>
            </a:r>
            <a:r>
              <a:rPr lang="en-US" b="0" i="0" u="none" strike="noStrike">
                <a:solidFill>
                  <a:srgbClr val="1E2426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1E2426"/>
                </a:solidFill>
                <a:effectLst/>
              </a:rPr>
              <a:t>TiDB</a:t>
            </a:r>
            <a:r>
              <a:rPr lang="en-US" b="0" i="0" u="none" strike="noStrike">
                <a:solidFill>
                  <a:srgbClr val="1E2426"/>
                </a:solidFill>
                <a:effectLst/>
              </a:rPr>
              <a:t> architecture is designed in a way separates computing from storage,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>
                <a:solidFill>
                  <a:srgbClr val="1E2426"/>
                </a:solidFill>
                <a:effectLst/>
              </a:rPr>
              <a:t>letting you scale out or scale in the computing or storage capacity as MUCH </a:t>
            </a:r>
            <a:r>
              <a:rPr lang="en-US" b="0" i="0" u="none" strike="noStrike" err="1">
                <a:solidFill>
                  <a:srgbClr val="1E2426"/>
                </a:solidFill>
                <a:effectLst/>
              </a:rPr>
              <a:t>asneeded</a:t>
            </a:r>
            <a:r>
              <a:rPr lang="en-US" b="0" i="0" u="none" strike="noStrike">
                <a:solidFill>
                  <a:srgbClr val="1E2426"/>
                </a:solidFill>
                <a:effectLst/>
              </a:rPr>
              <a:t>.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PD→ manages cluster and data distribution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TiDB</a:t>
            </a:r>
            <a:r>
              <a:rPr lang="en-US" sz="16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→ handles queries (compute layer)</a:t>
            </a:r>
          </a:p>
          <a:p>
            <a:r>
              <a:rPr lang="en-US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TiDB</a:t>
            </a:r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is stateless, meaning it doesn't remember anything between requests. Each time you send a query, it processes that query from scratch</a:t>
            </a:r>
          </a:p>
          <a:p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relying on any stored information. This makes </a:t>
            </a:r>
            <a:r>
              <a:rPr lang="en-US" sz="1800" b="1"/>
              <a:t>Storage Layer</a:t>
            </a:r>
            <a:endParaRPr lang="en-US" sz="1800"/>
          </a:p>
          <a:p>
            <a:pPr lvl="1"/>
            <a:r>
              <a:rPr lang="en-US" sz="1800" b="1" err="1"/>
              <a:t>TiKV</a:t>
            </a:r>
            <a:r>
              <a:rPr lang="en-US" sz="1800" b="1"/>
              <a:t> </a:t>
            </a:r>
            <a:br>
              <a:rPr lang="en-US" sz="1800"/>
            </a:br>
            <a:r>
              <a:rPr lang="en-US" sz="1800" err="1"/>
              <a:t>TiKV</a:t>
            </a:r>
            <a:r>
              <a:rPr lang="en-US" sz="1800"/>
              <a:t> is the main storage engine where data is stored. It splits data into smaller chunks called Regions, and automatically keeps 3 copies of each Region across the cluster — so if one node goes down, your data is safe and the system keeps running. It also supports transactions, making it reliable for everyday read and write operations </a:t>
            </a:r>
          </a:p>
          <a:p>
            <a:pPr lvl="1"/>
            <a:endParaRPr lang="en-US" sz="1800" b="1"/>
          </a:p>
          <a:p>
            <a:pPr lvl="1"/>
            <a:r>
              <a:rPr lang="en-US" sz="1800" b="1" err="1"/>
              <a:t>TiFlash</a:t>
            </a:r>
            <a:br>
              <a:rPr lang="en-US" sz="1800"/>
            </a:br>
            <a:r>
              <a:rPr lang="en-US" sz="1800" err="1"/>
              <a:t>TiFlash</a:t>
            </a:r>
            <a:r>
              <a:rPr lang="en-US" sz="1800"/>
              <a:t> is a special storage engine built for speed when running reports or analyzing large amounts of data. It works side by side with </a:t>
            </a:r>
            <a:r>
              <a:rPr lang="en-US" sz="1800" err="1"/>
              <a:t>TiKV</a:t>
            </a:r>
            <a:r>
              <a:rPr lang="en-US" sz="1800"/>
              <a:t> — </a:t>
            </a:r>
          </a:p>
          <a:p>
            <a:pPr lvl="1"/>
            <a:endParaRPr lang="en-US" sz="1800"/>
          </a:p>
          <a:p>
            <a:pPr lvl="1"/>
            <a:r>
              <a:rPr lang="en-US" sz="1800" err="1"/>
              <a:t>TiKV</a:t>
            </a:r>
            <a:r>
              <a:rPr lang="en-US" sz="1800"/>
              <a:t> handles, while </a:t>
            </a:r>
            <a:r>
              <a:rPr lang="en-US" sz="1800" err="1"/>
              <a:t>TiFlash</a:t>
            </a:r>
            <a:r>
              <a:rPr lang="en-US" sz="1800"/>
              <a:t> steps in when you need fast answers from big data.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6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35C3B-B41B-3515-42B3-5A63A04EB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FC01-5699-B965-B48F-8655F86F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4612C-7EA3-4CF8-F94D-613901E46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1AD18-3AA9-0F57-89F6-9DFD630D6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Partitioning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🗣️Here we have </a:t>
            </a:r>
            <a:r>
              <a:rPr lang="en-US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Range-based partitioning</a:t>
            </a:r>
          </a:p>
          <a:p>
            <a:r>
              <a:rPr lang="en-US" err="1"/>
              <a:t>TiDB</a:t>
            </a:r>
            <a:r>
              <a:rPr lang="en-US"/>
              <a:t> distributes data by splitting it into Regions based on key ranges. These Regions are automatically split and spread across different servers as the data grows.</a:t>
            </a:r>
          </a:p>
          <a:p>
            <a:endParaRPr lang="en-US"/>
          </a:p>
          <a:p>
            <a:r>
              <a:rPr lang="en-US"/>
              <a:t>Node Roles (Leader–Follower) </a:t>
            </a:r>
          </a:p>
          <a:p>
            <a:r>
              <a:rPr lang="en-US"/>
              <a:t>🗣️ Each Region is managed using a leader–follower model. The leader node handles all write operations, while follower nodes replicate the data to ensure reliability.</a:t>
            </a:r>
          </a:p>
          <a:p>
            <a:endParaRPr lang="en-US"/>
          </a:p>
          <a:p>
            <a:r>
              <a:rPr lang="en-US"/>
              <a:t>Consensus Protocol</a:t>
            </a:r>
          </a:p>
          <a:p>
            <a:r>
              <a:rPr lang="en-US" b="0"/>
              <a:t>🗣️</a:t>
            </a:r>
            <a:r>
              <a:rPr lang="en-US"/>
              <a:t>To keep everything consistent, </a:t>
            </a:r>
            <a:r>
              <a:rPr lang="en-US" err="1"/>
              <a:t>TiDB</a:t>
            </a:r>
            <a:r>
              <a:rPr lang="en-US"/>
              <a:t> uses the Raft protocol. Every Region has its own Raft group, and a write is only successful when a majority of nodes agree</a:t>
            </a:r>
          </a:p>
          <a:p>
            <a:endParaRPr lang="en-US"/>
          </a:p>
          <a:p>
            <a:r>
              <a:rPr lang="en-US"/>
              <a:t>Storage Engine</a:t>
            </a:r>
          </a:p>
          <a:p>
            <a:r>
              <a:rPr lang="en-US"/>
              <a:t>🗣️Finally, at the storage level, </a:t>
            </a:r>
            <a:r>
              <a:rPr lang="en-US" err="1"/>
              <a:t>TiDB</a:t>
            </a:r>
            <a:r>
              <a:rPr lang="en-US"/>
              <a:t> uses </a:t>
            </a:r>
            <a:r>
              <a:rPr lang="en-US" err="1"/>
              <a:t>RocksDB</a:t>
            </a:r>
            <a:r>
              <a:rPr lang="en-US"/>
              <a:t> with an LSM-tree design, which improves write performance by writing data sequentially and merging it later.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D835-5EDA-8A6A-A529-5367ACA18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1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9BB6-109E-FBDB-89B5-2E152F54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83ABD-C651-017C-B2F6-95AD16FF1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4341F-856B-F604-6991-8BFC55218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err="1">
                <a:solidFill>
                  <a:srgbClr val="860000"/>
                </a:solidFill>
                <a:latin typeface="Calibri" panose="020F0502020204030204" pitchFamily="34" charset="0"/>
              </a:rPr>
              <a:t>TiDB</a:t>
            </a:r>
            <a:r>
              <a:rPr lang="en-US" sz="1200" b="1">
                <a:solidFill>
                  <a:srgbClr val="860000"/>
                </a:solidFill>
                <a:latin typeface="Calibri" panose="020F0502020204030204" pitchFamily="34" charset="0"/>
              </a:rPr>
              <a:t>  is </a:t>
            </a:r>
            <a:r>
              <a:rPr lang="en-US" sz="1200"/>
              <a:t>designed to balance all three as much as possible. It aims to give you strong consistency. It keeps data consistent and handles network issues, but might become unavailable during a failure rather than serve outdated data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5C581-B896-9790-EAF1-ADC4526B8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24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0025-C5DA-4DBE-620F-31FAE0FC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B34C1-8468-2C09-F699-F92D4CB19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9CE6D-DC01-E7C8-F261-5946B50AE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 b="1"/>
              <a:t>1.SQL features missing or limited</a:t>
            </a:r>
            <a:r>
              <a:rPr lang="en-US"/>
              <a:t> </a:t>
            </a:r>
            <a:r>
              <a:rPr lang="en-US" err="1"/>
              <a:t>TiDB</a:t>
            </a:r>
            <a:r>
              <a:rPr lang="en-US"/>
              <a:t> doesn't support </a:t>
            </a:r>
            <a:r>
              <a:rPr lang="en-US" i="1"/>
              <a:t>everything</a:t>
            </a:r>
            <a:r>
              <a:rPr lang="en-US"/>
              <a:t> MySQL supports. Specifically:</a:t>
            </a:r>
          </a:p>
          <a:p>
            <a:r>
              <a:rPr lang="en-US" err="1"/>
              <a:t>TiDB</a:t>
            </a:r>
            <a:r>
              <a:rPr lang="en-US"/>
              <a:t> doesn't support </a:t>
            </a:r>
            <a:r>
              <a:rPr lang="en-US" b="1"/>
              <a:t>stored procedures or triggers</a:t>
            </a:r>
            <a:r>
              <a:rPr lang="en-US"/>
              <a:t> so any app relying on these would need reworking.</a:t>
            </a:r>
          </a:p>
          <a:p>
            <a:r>
              <a:rPr lang="en-US"/>
              <a:t> </a:t>
            </a:r>
            <a:r>
              <a:rPr lang="en-US" strike="sngStrike"/>
              <a:t>— These are pre-written instructions you save inside a database to run automatically. </a:t>
            </a:r>
          </a:p>
          <a:p>
            <a:endParaRPr lang="en-US" b="1"/>
          </a:p>
          <a:p>
            <a:r>
              <a:rPr lang="en-US" b="1"/>
              <a:t>Some limitations in query optimization</a:t>
            </a:r>
            <a:r>
              <a:rPr lang="en-US"/>
              <a:t> — Sometimes </a:t>
            </a:r>
            <a:r>
              <a:rPr lang="en-US" err="1"/>
              <a:t>TiDB</a:t>
            </a:r>
            <a:r>
              <a:rPr lang="en-US"/>
              <a:t> doesn't find the most efficient way to run a query on its own.</a:t>
            </a:r>
          </a:p>
          <a:p>
            <a:endParaRPr lang="en-US"/>
          </a:p>
          <a:p>
            <a:r>
              <a:rPr lang="en-US" b="1"/>
              <a:t>2.Application Migration</a:t>
            </a:r>
            <a:r>
              <a:rPr lang="en-US"/>
              <a:t> This is about moving an existing app to </a:t>
            </a:r>
            <a:r>
              <a:rPr lang="en-US" err="1"/>
              <a:t>TiDB</a:t>
            </a:r>
            <a:r>
              <a:rPr lang="en-US"/>
              <a:t>:</a:t>
            </a:r>
          </a:p>
          <a:p>
            <a:r>
              <a:rPr lang="en-US" b="1"/>
              <a:t>Coming from PostgreSQL?</a:t>
            </a:r>
            <a:r>
              <a:rPr lang="en-US"/>
              <a:t> You'll need to make code changes because PostgreSQL and MySQL are quite different.</a:t>
            </a:r>
          </a:p>
          <a:p>
            <a:r>
              <a:rPr lang="en-US" b="1"/>
              <a:t>Coming from MySQL?</a:t>
            </a:r>
            <a:r>
              <a:rPr lang="en-US"/>
              <a:t> Very little to no changes needed — since </a:t>
            </a:r>
            <a:r>
              <a:rPr lang="en-US" err="1"/>
              <a:t>TiDB</a:t>
            </a:r>
            <a:r>
              <a:rPr lang="en-US"/>
              <a:t> is built to mimic MySQL, your app will mostly just work.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err="1"/>
              <a:t>TiDB</a:t>
            </a:r>
            <a:r>
              <a:rPr lang="en-US"/>
              <a:t> has to </a:t>
            </a:r>
            <a:r>
              <a:rPr lang="en-US" b="1"/>
              <a:t>pull data from ALL the nodes</a:t>
            </a:r>
            <a:r>
              <a:rPr lang="en-US"/>
              <a:t>, bring it together in one place, do the calculation, then return the result. That "pulling everything together" step is what makes it slow and expensive.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5AF19-9A0B-16D2-494E-E25366D3A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97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14A5-6E09-6102-8263-446844AC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8FE43-4C9D-6807-ACDC-7D0746D3F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AFBA9-A022-6C0E-0E74-861ED52B6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Horizontal Scaling</a:t>
            </a:r>
          </a:p>
          <a:p>
            <a:r>
              <a:rPr lang="en-US"/>
              <a:t>When data grows, you add more machines — not upgrade one big server</a:t>
            </a:r>
          </a:p>
          <a:p>
            <a:r>
              <a:rPr lang="en-US" dirty="0"/>
              <a:t>Each layer scales independently — more </a:t>
            </a:r>
            <a:r>
              <a:rPr lang="en-US" dirty="0" err="1"/>
              <a:t>TiDB</a:t>
            </a:r>
            <a:r>
              <a:rPr lang="en-US" dirty="0"/>
              <a:t> nodes for queries, more </a:t>
            </a:r>
            <a:r>
              <a:rPr lang="en-US" dirty="0" err="1"/>
              <a:t>TiKV</a:t>
            </a:r>
            <a:r>
              <a:rPr lang="en-US" dirty="0"/>
              <a:t> nodes for storage</a:t>
            </a:r>
          </a:p>
          <a:p>
            <a:r>
              <a:rPr lang="en-US"/>
              <a:t>Automatic Sharding</a:t>
            </a:r>
          </a:p>
          <a:p>
            <a:r>
              <a:rPr lang="en-US" dirty="0" err="1"/>
              <a:t>TechRetail</a:t>
            </a:r>
            <a:r>
              <a:rPr lang="en-US" dirty="0"/>
              <a:t> manually splits data into NE and SE databases — adding a new region means rewriting routing logic and migrating data manually</a:t>
            </a:r>
          </a:p>
          <a:p>
            <a:r>
              <a:rPr lang="en-US" dirty="0" err="1"/>
              <a:t>TiDB</a:t>
            </a:r>
            <a:r>
              <a:rPr lang="en-US" dirty="0"/>
              <a:t> splits data automatically into chunks called </a:t>
            </a:r>
            <a:r>
              <a:rPr lang="en-US" b="1" dirty="0"/>
              <a:t>Regions</a:t>
            </a:r>
            <a:r>
              <a:rPr lang="en-US" dirty="0"/>
              <a:t> — each Region is ~96MB of consecutive data</a:t>
            </a:r>
          </a:p>
          <a:p>
            <a:r>
              <a:rPr lang="en-US" dirty="0"/>
              <a:t>When a Region grows too large </a:t>
            </a:r>
            <a:r>
              <a:rPr lang="en-US" dirty="0" err="1"/>
              <a:t>TiDB</a:t>
            </a:r>
            <a:r>
              <a:rPr lang="en-US" dirty="0"/>
              <a:t> splits it — when too small </a:t>
            </a:r>
            <a:r>
              <a:rPr lang="en-US" dirty="0" err="1"/>
              <a:t>TiDB</a:t>
            </a:r>
            <a:r>
              <a:rPr lang="en-US" dirty="0"/>
              <a:t> merges it — no developer involvement</a:t>
            </a:r>
          </a:p>
          <a:p>
            <a:r>
              <a:rPr lang="en-US"/>
              <a:t>Dynamic Rebalancing via PD</a:t>
            </a:r>
          </a:p>
          <a:p>
            <a:r>
              <a:rPr lang="en-US" b="1"/>
              <a:t>Placement Driver (PD)</a:t>
            </a:r>
            <a:r>
              <a:rPr lang="en-US"/>
              <a:t> is the manager — decides which Region lives on which machine</a:t>
            </a:r>
          </a:p>
          <a:p>
            <a:r>
              <a:rPr lang="en-US"/>
              <a:t>New node added → PD automatically moves Regions to it to balance load equally</a:t>
            </a:r>
          </a:p>
          <a:p>
            <a:r>
              <a:rPr lang="en-US" dirty="0"/>
              <a:t>Node crashes → PD immediately creates new copies of lost data on healthy machines</a:t>
            </a:r>
          </a:p>
          <a:p>
            <a:r>
              <a:rPr lang="en-US"/>
              <a:t>All of this happens in background — no downtime, no manual work.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BBF96-A9EB-B297-DC2F-FEBEC3185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4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921C-3111-715C-13B8-3A3C7B68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EECEB-B99E-5A2D-D15B-CAA9A60C3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F72E4-2674-B0AD-2769-A8F9A0E39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is </a:t>
            </a:r>
            <a:r>
              <a:rPr lang="en-US" b="1" dirty="0"/>
              <a:t>Repeatable Read (Snapshot Isolation)</a:t>
            </a:r>
            <a:r>
              <a:rPr lang="en-US" dirty="0"/>
              <a:t> — when your transaction starts, </a:t>
            </a:r>
            <a:r>
              <a:rPr lang="en-US" dirty="0" err="1"/>
              <a:t>TiDB</a:t>
            </a:r>
            <a:r>
              <a:rPr lang="en-US" dirty="0"/>
              <a:t> gives you a private snapshot of the data. Your view stays clean and consistent throughout</a:t>
            </a:r>
          </a:p>
          <a:p>
            <a:r>
              <a:rPr lang="en-US"/>
              <a:t>Also supports </a:t>
            </a:r>
            <a:r>
              <a:rPr lang="en-US" b="1"/>
              <a:t>Read Committed</a:t>
            </a:r>
            <a:r>
              <a:rPr lang="en-US"/>
              <a:t> — each read sees the latest committed data. Slightly less strict but faster in some cases</a:t>
            </a:r>
          </a:p>
          <a:p>
            <a:r>
              <a:rPr lang="en-US"/>
              <a:t>Both prevent </a:t>
            </a:r>
            <a:r>
              <a:rPr lang="en-US" b="1"/>
              <a:t>dirty reads</a:t>
            </a:r>
            <a:r>
              <a:rPr lang="en-US"/>
              <a:t> — you never see inventory that is mid-update by someone else's transaction.</a:t>
            </a:r>
            <a:br>
              <a:rPr lang="en-US" dirty="0"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/>
              <a:t>Distributed Transactions</a:t>
            </a:r>
            <a:endParaRPr lang="en-US" dirty="0">
              <a:cs typeface="+mn-lt"/>
            </a:endParaRPr>
          </a:p>
          <a:p>
            <a:r>
              <a:rPr lang="en-US" dirty="0"/>
              <a:t>When you hit buy — that 1 to 2 minute wait is </a:t>
            </a:r>
            <a:r>
              <a:rPr lang="en-US" b="1" dirty="0"/>
              <a:t>Two-Phase Commit (2PC)</a:t>
            </a:r>
            <a:r>
              <a:rPr lang="en-US" dirty="0"/>
              <a:t> running</a:t>
            </a:r>
          </a:p>
          <a:p>
            <a:r>
              <a:rPr lang="en-US" b="1" dirty="0"/>
              <a:t>Phase 1</a:t>
            </a:r>
            <a:r>
              <a:rPr lang="en-US" dirty="0"/>
              <a:t> — </a:t>
            </a:r>
            <a:r>
              <a:rPr lang="en-US" dirty="0" err="1"/>
              <a:t>TiDB</a:t>
            </a:r>
            <a:r>
              <a:rPr lang="en-US" dirty="0"/>
              <a:t> locks all data it needs across machines. Checks inventory, verifies payment, confirms queue position — all simultaneously</a:t>
            </a:r>
          </a:p>
          <a:p>
            <a:r>
              <a:rPr lang="en-US" b="1"/>
              <a:t>Phase 2</a:t>
            </a:r>
            <a:r>
              <a:rPr lang="en-US"/>
              <a:t> — if all checks pass, applies all changes together and releases locks. Order created, inventory reduced, payment confirmed — all atomic</a:t>
            </a:r>
          </a:p>
          <a:p>
            <a:r>
              <a:rPr lang="en-US"/>
              <a:t>If anything fails in Phase 1 — everything cancels. No charge, no order, no inventory change. Clean rollback.</a:t>
            </a:r>
            <a:br>
              <a:rPr lang="en-US" dirty="0"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/>
              <a:t>Trade-offs</a:t>
            </a:r>
            <a:endParaRPr lang="en-US" dirty="0">
              <a:cs typeface="+mn-lt"/>
            </a:endParaRPr>
          </a:p>
          <a:p>
            <a:r>
              <a:rPr lang="en-US"/>
              <a:t>That 1 to 2 minute wait is the trade-off — Raft quorum and 2PC add latency</a:t>
            </a:r>
          </a:p>
          <a:p>
            <a:r>
              <a:rPr lang="en-US"/>
              <a:t>Cassandra confirms in milliseconds but risks overselling — sells the same shoe to multiple people</a:t>
            </a:r>
          </a:p>
          <a:p>
            <a:r>
              <a:rPr lang="en-US"/>
              <a:t>TiDB takes longer but when it says confirmed — it is genuinely confirmed. </a:t>
            </a:r>
            <a:r>
              <a:rPr lang="en-US" b="1"/>
              <a:t>Consistency vs Performance</a:t>
            </a:r>
            <a:endParaRPr lang="en-US"/>
          </a:p>
          <a:p>
            <a:r>
              <a:rPr lang="en-US"/>
              <a:t>For a limited edition sale where overselling is a disaster — TiDB's approach is the right one</a:t>
            </a:r>
          </a:p>
          <a:p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D173B-1528-14A9-7DF3-E5E039B5B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40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37CE-7370-0116-EDAF-25FAF060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BD614-D79E-332D-71E3-59B51AE1D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1079D-0D93-F8AF-F26A-9D2BD9414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Best for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PostgreSQL — best for structured transactions, complex JOINs, and normalized relational data. Ideal when data has relationships between tables and accuracy is critical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Cassandra — best for high write throughput, distributed data at massive scale. Ideal when you just need to store enormous amounts of data very fast without complex querying</a:t>
            </a:r>
          </a:p>
          <a:p>
            <a:pPr marL="171450" indent="-171450">
              <a:buFont typeface="Arial"/>
              <a:buChar char="•"/>
            </a:pPr>
            <a:r>
              <a:rPr lang="en-US" dirty="0" err="1"/>
              <a:t>TiDB</a:t>
            </a:r>
            <a:r>
              <a:rPr lang="en-US" dirty="0"/>
              <a:t> — best for distributed transactional AND analytical workloads together. Ideal when you need PostgreSQL's correctness at Cassandra's scale — which is exactly </a:t>
            </a:r>
            <a:r>
              <a:rPr lang="en-US" dirty="0" err="1"/>
              <a:t>TechRetail's</a:t>
            </a:r>
            <a:r>
              <a:rPr lang="en-US" dirty="0"/>
              <a:t> situation</a:t>
            </a:r>
            <a:br>
              <a:rPr lang="en-US" dirty="0">
                <a:cs typeface="+mn-lt"/>
              </a:rPr>
            </a:br>
            <a:endParaRPr lang="en-US" dirty="0"/>
          </a:p>
          <a:p>
            <a:r>
              <a:rPr lang="en-US" b="1"/>
              <a:t>Limitation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dirty="0"/>
              <a:t>PostgreSQL — hard to scale. Once you hit the ceiling of one machine you have to manually shard like </a:t>
            </a:r>
            <a:r>
              <a:rPr lang="en-US" dirty="0" err="1"/>
              <a:t>TechRetail</a:t>
            </a:r>
            <a:r>
              <a:rPr lang="en-US" dirty="0"/>
              <a:t> did — splitting into NE and SE databases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Cassandra — weaker consistency. It can give you incorrect or stale data because it skips the checking process for speed. As we discussed — it prints the receipt without checking stock</a:t>
            </a:r>
          </a:p>
          <a:p>
            <a:pPr marL="171450" indent="-171450">
              <a:buFont typeface="Arial"/>
              <a:buChar char="•"/>
            </a:pPr>
            <a:r>
              <a:rPr lang="en-US" dirty="0" err="1"/>
              <a:t>TiDB</a:t>
            </a:r>
            <a:r>
              <a:rPr lang="en-US" dirty="0"/>
              <a:t> — higher latency due to coordination between machines. Every write waits for Raft quorum agreement across multiple machines — adding a few milliseconds compared to Cassandra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/>
              <a:t>SQL Support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PostgreSQL — full SQL. Every SQL feature, JOINs, complex queries, window functions — all supported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Cassandra — has its own limited query language called </a:t>
            </a:r>
            <a:r>
              <a:rPr lang="en-US" b="1"/>
              <a:t>CQL — Cassandra Query Language.</a:t>
            </a:r>
            <a:r>
              <a:rPr lang="en-US"/>
              <a:t> It looks like SQL but cannot do JOINs, complex filters, or aggregations. You can only query data the exact way you designed the table for</a:t>
            </a:r>
          </a:p>
          <a:p>
            <a:pPr marL="171450" indent="-171450">
              <a:buFont typeface="Arial"/>
              <a:buChar char="•"/>
            </a:pPr>
            <a:r>
              <a:rPr lang="en-US" dirty="0" err="1"/>
              <a:t>TiDB</a:t>
            </a:r>
            <a:r>
              <a:rPr lang="en-US" dirty="0"/>
              <a:t> — MySQL compatible SQL. Developers use the same SQL they already know. The only adjustment needed is minor syntax differences when migrating from PostgreSQL</a:t>
            </a:r>
          </a:p>
          <a:p>
            <a:endParaRPr lang="en-US" dirty="0">
              <a:cs typeface="+mn-lt"/>
            </a:endParaRPr>
          </a:p>
          <a:p>
            <a:r>
              <a:rPr lang="en-US" dirty="0"/>
              <a:t>"Each system is best at one thing, limited by one thing, and speaks its own version of SQL — PostgreSQL is powerful but cannot scale, Cassandra scales but cannot stay correct, and </a:t>
            </a:r>
            <a:r>
              <a:rPr lang="en-US" dirty="0" err="1"/>
              <a:t>TiDB</a:t>
            </a:r>
            <a:r>
              <a:rPr lang="en-US" dirty="0"/>
              <a:t> sits in the middle — scalable, correct, and speaking a SQL language developers already know."</a:t>
            </a:r>
          </a:p>
          <a:p>
            <a:br>
              <a:rPr lang="en-US" dirty="0">
                <a:cs typeface="+mn-lt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C12F3-190A-546A-5C03-FFD18A833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33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31BFC-5AE2-8892-76B2-DE29BCF3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D1012-F8EB-12CA-D8CC-0E0E38AB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DAA4C-FD14-94DD-D836-53B96D553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Can Replace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Replaces </a:t>
            </a:r>
            <a:r>
              <a:rPr lang="en-US" b="1"/>
              <a:t>both PostgreSQL sales shards</a:t>
            </a:r>
            <a:r>
              <a:rPr lang="en-US"/>
              <a:t> — NE and SE become one unified database. No manual routing logic needed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Cross region query like total sales across all regions becomes simple SQL — </a:t>
            </a:r>
            <a:r>
              <a:rPr lang="en-US" dirty="0" err="1"/>
              <a:t>TiDB</a:t>
            </a:r>
            <a:r>
              <a:rPr lang="en-US" dirty="0"/>
              <a:t> handles it internally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b="1" dirty="0"/>
              <a:t>Potentially replaces the data warehouse</a:t>
            </a:r>
            <a:r>
              <a:rPr lang="en-US" dirty="0"/>
              <a:t> — </a:t>
            </a:r>
            <a:r>
              <a:rPr lang="en-US" dirty="0" err="1"/>
              <a:t>TiFlash</a:t>
            </a:r>
            <a:r>
              <a:rPr lang="en-US" dirty="0"/>
              <a:t> provides live columnar analytics on data seconds old. No nightly ETL batch needed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Simplifies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No more routing logic — application does not decide which shard to query. Just talks to one database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Application logic becomes significantly simpler overall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Supports Hybrid Workload — OLTP + OLAP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b="1" dirty="0"/>
              <a:t>OLTP</a:t>
            </a:r>
            <a:r>
              <a:rPr lang="en-US" dirty="0"/>
              <a:t> — fast transactional operations like placing an order — handled by </a:t>
            </a:r>
            <a:r>
              <a:rPr lang="en-US" dirty="0" err="1"/>
              <a:t>TiKV</a:t>
            </a:r>
            <a:endParaRPr lang="en-US" dirty="0" err="1">
              <a:solidFill>
                <a:srgbClr val="444444"/>
              </a:solidFill>
            </a:endParaRPr>
          </a:p>
          <a:p>
            <a:r>
              <a:rPr lang="en-US" b="1" dirty="0"/>
              <a:t>OLAP</a:t>
            </a:r>
            <a:r>
              <a:rPr lang="en-US" dirty="0"/>
              <a:t> — heavy analytical operations like monthly revenue reports — handled by </a:t>
            </a:r>
            <a:r>
              <a:rPr lang="en-US" dirty="0" err="1"/>
              <a:t>TiFlash</a:t>
            </a:r>
            <a:endParaRPr lang="en-US" dirty="0" err="1">
              <a:solidFill>
                <a:srgbClr val="444444"/>
              </a:solidFill>
            </a:endParaRPr>
          </a:p>
          <a:p>
            <a:r>
              <a:rPr lang="en-US" dirty="0"/>
              <a:t>Normally these two conflict and need separate systems. </a:t>
            </a:r>
            <a:r>
              <a:rPr lang="en-US" dirty="0" err="1"/>
              <a:t>TiDB</a:t>
            </a:r>
            <a:r>
              <a:rPr lang="en-US" dirty="0"/>
              <a:t> handles both simultaneously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 err="1"/>
              <a:t>TechRetail</a:t>
            </a:r>
            <a:r>
              <a:rPr lang="en-US" dirty="0"/>
              <a:t> built 4 separate systems to solve 4 separate problems. </a:t>
            </a:r>
            <a:r>
              <a:rPr lang="en-US" dirty="0" err="1"/>
              <a:t>TiDB</a:t>
            </a:r>
            <a:r>
              <a:rPr lang="en-US" dirty="0"/>
              <a:t> solves all 4  in one.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24AAB-CFFC-3A50-EF21-413B23BD1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41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06BD-CEA3-84F7-9272-2B16F587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3565E-BEE4-E872-C272-2BBBEB25C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CE188-1ECA-4969-B021-A85450077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Should </a:t>
            </a:r>
            <a:r>
              <a:rPr lang="en-US" dirty="0" err="1"/>
              <a:t>TechRetail</a:t>
            </a:r>
            <a:r>
              <a:rPr lang="en-US" dirty="0"/>
              <a:t> Use </a:t>
            </a:r>
            <a:r>
              <a:rPr lang="en-US" dirty="0" err="1"/>
              <a:t>TiDB</a:t>
            </a:r>
            <a:r>
              <a:rPr lang="en-US" dirty="0"/>
              <a:t>?</a:t>
            </a:r>
          </a:p>
          <a:p>
            <a:r>
              <a:rPr lang="en-US"/>
              <a:t>Where it fits</a:t>
            </a:r>
          </a:p>
          <a:p>
            <a:r>
              <a:rPr lang="en-US"/>
              <a:t>It Replaces PostgreSQL sales shards — single unified distributed database</a:t>
            </a:r>
          </a:p>
          <a:p>
            <a:r>
              <a:rPr lang="en-US"/>
              <a:t>It Reduces dependency on separate warehouse</a:t>
            </a:r>
          </a:p>
          <a:p>
            <a:r>
              <a:rPr lang="en-US"/>
              <a:t>It Simplifies entire application architecture</a:t>
            </a:r>
          </a:p>
          <a:p>
            <a:r>
              <a:rPr lang="en-US"/>
              <a:t>Benefits</a:t>
            </a:r>
          </a:p>
          <a:p>
            <a:r>
              <a:rPr lang="en-US"/>
              <a:t>Automatic sharding — no manual routing ever again</a:t>
            </a:r>
          </a:p>
          <a:p>
            <a:r>
              <a:rPr lang="en-US" dirty="0"/>
              <a:t>No ETL pipeline — </a:t>
            </a:r>
            <a:r>
              <a:rPr lang="en-US" dirty="0" err="1"/>
              <a:t>TiKV</a:t>
            </a:r>
            <a:r>
              <a:rPr lang="en-US" dirty="0"/>
              <a:t> and </a:t>
            </a:r>
            <a:r>
              <a:rPr lang="en-US" dirty="0" err="1"/>
              <a:t>TiFlash</a:t>
            </a:r>
            <a:r>
              <a:rPr lang="en-US" dirty="0"/>
              <a:t> sync automatically inside </a:t>
            </a:r>
            <a:r>
              <a:rPr lang="en-US" dirty="0" err="1"/>
              <a:t>TiDB</a:t>
            </a:r>
          </a:p>
          <a:p>
            <a:r>
              <a:rPr lang="en-US"/>
              <a:t>Supports OLTP and OLAP together in one system</a:t>
            </a:r>
          </a:p>
          <a:p>
            <a:r>
              <a:rPr lang="en-US"/>
              <a:t>Challenges</a:t>
            </a:r>
          </a:p>
          <a:p>
            <a:r>
              <a:rPr lang="en-US" dirty="0"/>
              <a:t>Distributed system complexity — managing Raft, PD, </a:t>
            </a:r>
            <a:r>
              <a:rPr lang="en-US" dirty="0" err="1"/>
              <a:t>TiKV</a:t>
            </a:r>
            <a:r>
              <a:rPr lang="en-US" dirty="0"/>
              <a:t>, </a:t>
            </a:r>
            <a:r>
              <a:rPr lang="en-US" dirty="0" err="1"/>
              <a:t>TiFlash</a:t>
            </a:r>
            <a:r>
              <a:rPr lang="en-US" dirty="0"/>
              <a:t> all together</a:t>
            </a:r>
          </a:p>
          <a:p>
            <a:r>
              <a:rPr lang="en-US"/>
              <a:t>Higher write latency than Cassandra due to quorum agreement</a:t>
            </a:r>
          </a:p>
          <a:p>
            <a:r>
              <a:rPr lang="en-US" dirty="0"/>
              <a:t>May not match a dedicated data warehouse for extremely heavy analytics — </a:t>
            </a:r>
            <a:r>
              <a:rPr lang="en-US" dirty="0" err="1"/>
              <a:t>TiFlash</a:t>
            </a:r>
            <a:r>
              <a:rPr lang="en-US" dirty="0"/>
              <a:t> shares resources with live transactions. A dedicated warehouse has no competition for resources</a:t>
            </a:r>
          </a:p>
          <a:p>
            <a:r>
              <a:rPr lang="en-US"/>
              <a:t>Final Verdict</a:t>
            </a:r>
          </a:p>
          <a:p>
            <a:r>
              <a:rPr lang="en-US"/>
              <a:t>Best for scalable unified systems needing both transactions and analytics</a:t>
            </a:r>
          </a:p>
          <a:p>
            <a:r>
              <a:rPr lang="en-US"/>
              <a:t>Not ideal if you need Cassandra level raw write speed or extremely complex historical analytics</a:t>
            </a:r>
          </a:p>
          <a:p>
            <a:r>
              <a:rPr lang="en-US" dirty="0"/>
              <a:t>Recommended for </a:t>
            </a:r>
            <a:r>
              <a:rPr lang="en-US" dirty="0" err="1"/>
              <a:t>TechRetail</a:t>
            </a:r>
            <a:r>
              <a:rPr lang="en-US" dirty="0"/>
              <a:t> sales layer </a:t>
            </a:r>
            <a:r>
              <a:rPr lang="en-US" dirty="0" err="1"/>
              <a:t>modernisation</a:t>
            </a:r>
            <a:r>
              <a:rPr lang="en-US" dirty="0"/>
              <a:t> — right direction, right time when they expand beyond 2 shards</a:t>
            </a:r>
          </a:p>
          <a:p>
            <a:r>
              <a:rPr lang="en-US" b="1" dirty="0"/>
              <a:t>Closing line:</a:t>
            </a:r>
            <a:r>
              <a:rPr lang="en-US" dirty="0"/>
              <a:t> </a:t>
            </a:r>
            <a:r>
              <a:rPr lang="en-US" dirty="0" err="1"/>
              <a:t>TechRetail</a:t>
            </a:r>
            <a:r>
              <a:rPr lang="en-US" dirty="0"/>
              <a:t> does not need four systems talking through an ETL pipeline. With </a:t>
            </a:r>
            <a:r>
              <a:rPr lang="en-US" dirty="0" err="1"/>
              <a:t>TiDB</a:t>
            </a:r>
            <a:r>
              <a:rPr lang="en-US" dirty="0"/>
              <a:t> — they need one.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86C50-217B-9E36-4C69-C2BAC59D4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05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E80-50D1-1FB2-A1F3-FDF890B2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3A21A-2C89-D08C-11DE-C7DBBC666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9B71B-7EF1-C929-7491-DC03C7FD8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03EBC-0227-3F6A-9DF9-30B734A52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06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0946-286B-B216-6658-962BCFBD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C3D43-7167-21F2-962D-7F53AFF51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1C95C-CB8C-1FE9-978E-B8CEAD374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732B6-61B1-0B67-11B2-C7D712862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10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4704C-01C7-517E-0FA6-396CC6909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41479-91F4-6A80-600B-0385775BF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1C189-BF11-DFD7-8527-9212A68B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D7752-AEA5-97A4-6F25-FC3A2170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53B25-7B76-F3F5-EDC1-90DCE196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A2E2-5EEA-02CB-2646-E50337C6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E68E-8FB3-3A68-52FC-10AE383A0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69E9-6A62-2322-4A94-6B966E4D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80AA1-667A-5F3E-D3B4-5E410ACE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AB31A-2027-8222-4801-C244F8E1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8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A598-CD41-773C-C8B3-DC72FD6E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17DC9-7943-7CE5-60E9-16038C34C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0679E-547F-F854-7033-D9646FF8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7CC5F-DD94-BB3F-AB08-F2DC4496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B5734-EECD-C3DA-D847-0E304046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5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631A-0638-8FB8-758C-946EFE37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23FA-3F4F-2B76-3148-D25404AD2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8F444-F835-3388-BC1A-5EBF7D74A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F3792-DFFA-BC70-D3ED-F50DEEB1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20BB0-64EE-AC36-C71C-BF1804A8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EE234-5346-E0E7-36B0-815A3AD7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4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4EFC-7548-B0B5-8ECB-577A95B7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40B59-57CC-36D3-0800-6AFA9ED40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30BB0-ABAB-426A-9909-CCD657D07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19399-8319-B87F-7850-C303E8DE5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0CF88-E973-B03B-8CF6-3A562D984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21D17-BC74-183F-D226-AFE25D06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79EB1-C83A-5AF9-6F95-7A748818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2408D-640B-B267-3A6C-B0456604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3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86D2-E261-BB75-7084-FCE99B5D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0DC28-17F7-3E13-6D3F-3DDE2EB0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C03E1-154F-F232-7E46-97F3CE63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57488-F64B-C397-A418-7C6049B0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7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DA96A-D5D8-1AC6-F172-EE5CEA81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5B28A-0DA3-3FA5-E6CF-1F061BF1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CFFA0-478B-DDEC-3ED5-A3A1BEFB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7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36F8-547D-DD2D-FEE3-CDCEACBA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D666A-4A5D-AFFE-824B-A8339BE3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376AB-6DF6-1BF1-63B3-CA164FFE9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992AD-5ADF-0B94-7E27-2EE23ED3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92D6E-AF44-EC3A-CE8B-9A134D2A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BAA12-C4B5-196B-F6D9-706619E9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7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89A5-92B3-B9BF-94AC-D400021F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E5926-AEE1-E01C-7DFD-57B47AD23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22284-EEF7-AAC3-9F0B-BB0186525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61242-E9FA-E5A2-005D-F6CEDBCD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54126-F9C3-FD4D-BADE-35A060BA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EDF28-16A8-792F-7FD4-9156AB17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3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818D-C0C5-7121-BC20-BAAA65695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A8843-1599-E52C-420D-A707AF1F3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B350B-639F-F9D0-ABAE-D7E3DE74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4FB9E-8885-8052-B2D6-1BEA6E4C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0621-C028-2BD1-8BAA-CD0D9B98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18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06F1C1-E839-D940-EF26-E064383C2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D3831-C186-B9BA-133A-2524B55E5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4158A-D0B9-A9AC-BF7B-76529828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7A211-C92D-5DB4-C0B2-DA5495C8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47DA0-E073-724B-E947-69ADDF3E1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5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2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0BB27-916C-E868-612E-D3B63219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5C94E-F88F-91C3-65F0-258CD9DB1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F6E21-AE3B-01D5-9E6C-F274CBD7D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7479A-CA55-48A1-85FF-9BFF1CD7BFC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35AD9-2CA8-3386-CC42-4CC5C698F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40BE3-133D-D9C9-0F18-100FE3473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6B636-CC9C-45EA-83DE-D01FF7C9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9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ingcap.com/tidb/stable/tidb-storag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KarthikeyanAtmakuru/ism6562-Midterm_project_BigQuest_Query.git" TargetMode="External"/><Relationship Id="rId5" Type="http://schemas.openxmlformats.org/officeDocument/2006/relationships/hyperlink" Target="https://dbdb.io/db/tidb" TargetMode="External"/><Relationship Id="rId4" Type="http://schemas.openxmlformats.org/officeDocument/2006/relationships/hyperlink" Target="https://docs.pingcap.com/tidb/stable/transaction-isolation-levels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E38D2-894D-812E-7F8E-DEAFD9A5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4F3840F-29D3-7E14-DD9B-E898FB3D259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4730496" cy="6858000"/>
            <a:chOff x="0" y="0"/>
            <a:chExt cx="4730496" cy="6858000"/>
          </a:xfrm>
          <a:solidFill>
            <a:schemeClr val="bg1"/>
          </a:solidFill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D5CB165A-E464-B989-891C-DD36213339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32960" cy="6858000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15302E49-7EDB-44A9-9DE4-5A9E9B980A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2960" y="0"/>
              <a:ext cx="97536" cy="6858000"/>
            </a:xfrm>
            <a:prstGeom prst="rect">
              <a:avLst/>
            </a:prstGeom>
            <a:solidFill>
              <a:srgbClr val="860000"/>
            </a:solidFill>
            <a:ln w="12700">
              <a:solidFill>
                <a:srgbClr val="86000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855D05E0-91D6-6A81-711C-9774144F4D1A}"/>
              </a:ext>
            </a:extLst>
          </p:cNvPr>
          <p:cNvSpPr/>
          <p:nvPr/>
        </p:nvSpPr>
        <p:spPr>
          <a:xfrm>
            <a:off x="5002454" y="39878"/>
            <a:ext cx="7536277" cy="198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Team: </a:t>
            </a:r>
            <a:r>
              <a:rPr lang="en-US" sz="4800" b="1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BigQuery_Quest</a:t>
            </a:r>
            <a:endParaRPr lang="en-US" sz="4800" b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A60B4EDE-A842-E5DB-9DBE-F8B040D6F721}"/>
              </a:ext>
            </a:extLst>
          </p:cNvPr>
          <p:cNvSpPr/>
          <p:nvPr/>
        </p:nvSpPr>
        <p:spPr>
          <a:xfrm>
            <a:off x="-110081" y="4012184"/>
            <a:ext cx="4544124" cy="236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TiDB</a:t>
            </a:r>
            <a:endParaRPr lang="en-US" sz="6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8220173-4339-BD2B-B838-4FB37D3A7DFF}"/>
              </a:ext>
            </a:extLst>
          </p:cNvPr>
          <p:cNvSpPr/>
          <p:nvPr/>
        </p:nvSpPr>
        <p:spPr>
          <a:xfrm>
            <a:off x="145972" y="5631522"/>
            <a:ext cx="4369793" cy="89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 distributed SQL database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570EED-1E6B-7951-94C6-447A8026AC0D}"/>
              </a:ext>
            </a:extLst>
          </p:cNvPr>
          <p:cNvSpPr/>
          <p:nvPr/>
        </p:nvSpPr>
        <p:spPr>
          <a:xfrm>
            <a:off x="5219229" y="1897380"/>
            <a:ext cx="6705600" cy="10728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8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B9E4EAD-42F1-1A7F-A2F4-3157B94160C3}"/>
              </a:ext>
            </a:extLst>
          </p:cNvPr>
          <p:cNvSpPr/>
          <p:nvPr/>
        </p:nvSpPr>
        <p:spPr>
          <a:xfrm>
            <a:off x="11839485" y="1897380"/>
            <a:ext cx="85344" cy="1072896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062712-35D8-8266-4197-2C65E81D4A0A}"/>
              </a:ext>
            </a:extLst>
          </p:cNvPr>
          <p:cNvSpPr/>
          <p:nvPr/>
        </p:nvSpPr>
        <p:spPr>
          <a:xfrm>
            <a:off x="5447725" y="204901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Lead -  Kadiatou Sogodogo</a:t>
            </a:r>
            <a:endParaRPr lang="en-US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8B3E96-CBDD-86DD-3263-C4A51CEC3AB9}"/>
              </a:ext>
            </a:extLst>
          </p:cNvPr>
          <p:cNvSpPr/>
          <p:nvPr/>
        </p:nvSpPr>
        <p:spPr>
          <a:xfrm>
            <a:off x="5472109" y="242495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Designed and explained how the system is built and why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D7B4036-5518-94C1-9D34-605BE7015C45}"/>
              </a:ext>
            </a:extLst>
          </p:cNvPr>
          <p:cNvSpPr/>
          <p:nvPr/>
        </p:nvSpPr>
        <p:spPr>
          <a:xfrm>
            <a:off x="5228269" y="3177540"/>
            <a:ext cx="6705600" cy="10728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8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DBE8C3-A599-1AC0-A774-0C99A1E6275E}"/>
              </a:ext>
            </a:extLst>
          </p:cNvPr>
          <p:cNvSpPr/>
          <p:nvPr/>
        </p:nvSpPr>
        <p:spPr>
          <a:xfrm>
            <a:off x="5447725" y="33207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Lead- Karthikeyan </a:t>
            </a:r>
            <a:r>
              <a:rPr lang="en-US" sz="24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Atmakuru</a:t>
            </a:r>
            <a:endParaRPr lang="en-US"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118339-FF46-24D6-4FAC-C9271ED71A4A}"/>
              </a:ext>
            </a:extLst>
          </p:cNvPr>
          <p:cNvSpPr/>
          <p:nvPr/>
        </p:nvSpPr>
        <p:spPr>
          <a:xfrm>
            <a:off x="5472109" y="3719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robustness of the DB and compares it against PostgreSQL and Cassandra</a:t>
            </a:r>
            <a:endParaRPr lang="en-US" sz="1333">
              <a:solidFill>
                <a:schemeClr val="bg1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6D88243-7503-3DF1-FCFE-461F8ED8F213}"/>
              </a:ext>
            </a:extLst>
          </p:cNvPr>
          <p:cNvSpPr/>
          <p:nvPr/>
        </p:nvSpPr>
        <p:spPr>
          <a:xfrm>
            <a:off x="5219229" y="4451072"/>
            <a:ext cx="6705600" cy="10728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8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4552450-5FDE-7D40-D700-2F76B8C8661A}"/>
              </a:ext>
            </a:extLst>
          </p:cNvPr>
          <p:cNvSpPr/>
          <p:nvPr/>
        </p:nvSpPr>
        <p:spPr>
          <a:xfrm>
            <a:off x="5447725" y="45796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TechRetail</a:t>
            </a: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Evaluator – Marta </a:t>
            </a:r>
            <a:r>
              <a:rPr lang="en-US" sz="24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Falceto</a:t>
            </a: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Font </a:t>
            </a:r>
            <a:endParaRPr 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B3CB8E-AF86-83B0-9B3E-1AA3D87D8EBE}"/>
              </a:ext>
            </a:extLst>
          </p:cNvPr>
          <p:cNvSpPr/>
          <p:nvPr/>
        </p:nvSpPr>
        <p:spPr>
          <a:xfrm>
            <a:off x="5472109" y="501307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how useful and practical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TiBD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 a real retail setting</a:t>
            </a: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5" name="Picture 4" descr="TiDB, powered by PingCAP | LinkedIn">
            <a:extLst>
              <a:ext uri="{FF2B5EF4-FFF2-40B4-BE49-F238E27FC236}">
                <a16:creationId xmlns:a16="http://schemas.microsoft.com/office/drawing/2014/main" id="{1D3C0C5D-C4CB-6464-DA9E-D765759B3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14" y="478284"/>
            <a:ext cx="3804586" cy="3804586"/>
          </a:xfrm>
          <a:prstGeom prst="rect">
            <a:avLst/>
          </a:prstGeom>
        </p:spPr>
      </p:pic>
      <p:sp>
        <p:nvSpPr>
          <p:cNvPr id="35" name="Shape 7">
            <a:extLst>
              <a:ext uri="{FF2B5EF4-FFF2-40B4-BE49-F238E27FC236}">
                <a16:creationId xmlns:a16="http://schemas.microsoft.com/office/drawing/2014/main" id="{3EB5C5DF-CDDD-31FD-11FE-BE6D56BDE4D1}"/>
              </a:ext>
            </a:extLst>
          </p:cNvPr>
          <p:cNvSpPr/>
          <p:nvPr/>
        </p:nvSpPr>
        <p:spPr>
          <a:xfrm>
            <a:off x="11843378" y="3177540"/>
            <a:ext cx="85344" cy="1072896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9F3A16F9-F79F-C3B0-F052-F0BCA068960E}"/>
              </a:ext>
            </a:extLst>
          </p:cNvPr>
          <p:cNvSpPr/>
          <p:nvPr/>
        </p:nvSpPr>
        <p:spPr>
          <a:xfrm>
            <a:off x="11848525" y="4457700"/>
            <a:ext cx="85344" cy="1072896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4352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4372" y="2566377"/>
            <a:ext cx="6827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800"/>
          </a:p>
        </p:txBody>
      </p:sp>
      <p:sp>
        <p:nvSpPr>
          <p:cNvPr id="4" name="Text 2"/>
          <p:cNvSpPr/>
          <p:nvPr/>
        </p:nvSpPr>
        <p:spPr>
          <a:xfrm>
            <a:off x="609600" y="353991"/>
            <a:ext cx="6827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we’ll cover…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086090"/>
            <a:ext cx="4925192" cy="729559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755904" y="1112227"/>
            <a:ext cx="6514035" cy="673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Overview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609600" y="1977567"/>
            <a:ext cx="4935630" cy="833941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755904" y="2052431"/>
            <a:ext cx="7490021" cy="68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 Theorem Positioning</a:t>
            </a:r>
          </a:p>
        </p:txBody>
      </p:sp>
      <p:sp>
        <p:nvSpPr>
          <p:cNvPr id="9" name="Shape 7"/>
          <p:cNvSpPr/>
          <p:nvPr/>
        </p:nvSpPr>
        <p:spPr>
          <a:xfrm>
            <a:off x="609600" y="2932599"/>
            <a:ext cx="4930411" cy="771311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" name="Text 8"/>
          <p:cNvSpPr/>
          <p:nvPr/>
        </p:nvSpPr>
        <p:spPr>
          <a:xfrm>
            <a:off x="755904" y="2976977"/>
            <a:ext cx="7490021" cy="68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 Compatibility</a:t>
            </a:r>
          </a:p>
        </p:txBody>
      </p:sp>
      <p:sp>
        <p:nvSpPr>
          <p:cNvPr id="11" name="Shape 9"/>
          <p:cNvSpPr/>
          <p:nvPr/>
        </p:nvSpPr>
        <p:spPr>
          <a:xfrm>
            <a:off x="609600" y="3847536"/>
            <a:ext cx="4925192" cy="823503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2" name="Text 10"/>
          <p:cNvSpPr/>
          <p:nvPr/>
        </p:nvSpPr>
        <p:spPr>
          <a:xfrm>
            <a:off x="755904" y="3917181"/>
            <a:ext cx="7490021" cy="68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Scaling Model</a:t>
            </a: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00F7486E-6837-B785-060B-684EB2DD7A8A}"/>
              </a:ext>
            </a:extLst>
          </p:cNvPr>
          <p:cNvSpPr/>
          <p:nvPr/>
        </p:nvSpPr>
        <p:spPr>
          <a:xfrm>
            <a:off x="609600" y="4834712"/>
            <a:ext cx="4935630" cy="771311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DB0AAA2-0E33-2EF2-8EA5-66AC3EDBAFAD}"/>
              </a:ext>
            </a:extLst>
          </p:cNvPr>
          <p:cNvSpPr/>
          <p:nvPr/>
        </p:nvSpPr>
        <p:spPr>
          <a:xfrm>
            <a:off x="755904" y="4880057"/>
            <a:ext cx="7490021" cy="68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Consistency &amp; Transactions</a:t>
            </a: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18EBDC7A-3A17-F9E2-754D-6457EAF92580}"/>
              </a:ext>
            </a:extLst>
          </p:cNvPr>
          <p:cNvSpPr/>
          <p:nvPr/>
        </p:nvSpPr>
        <p:spPr>
          <a:xfrm>
            <a:off x="609600" y="5765308"/>
            <a:ext cx="4935630" cy="833941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7EE99C2-AF67-B8E3-186B-70E0D9BBE80B}"/>
              </a:ext>
            </a:extLst>
          </p:cNvPr>
          <p:cNvSpPr/>
          <p:nvPr/>
        </p:nvSpPr>
        <p:spPr>
          <a:xfrm>
            <a:off x="755904" y="5763679"/>
            <a:ext cx="7490021" cy="68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8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TechRetail</a:t>
            </a:r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9843-8C01-4536-8704-EBD2628D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F987522-17DB-61C4-3C33-0CD61B288421}"/>
              </a:ext>
            </a:extLst>
          </p:cNvPr>
          <p:cNvGrpSpPr/>
          <p:nvPr/>
        </p:nvGrpSpPr>
        <p:grpSpPr>
          <a:xfrm>
            <a:off x="8512103" y="2532887"/>
            <a:ext cx="3474146" cy="3538754"/>
            <a:chOff x="369799" y="2835510"/>
            <a:chExt cx="2562041" cy="3047613"/>
          </a:xfrm>
        </p:grpSpPr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8104B520-9AEB-5567-90AA-73CA4265450A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35" name="Shape 7">
              <a:extLst>
                <a:ext uri="{FF2B5EF4-FFF2-40B4-BE49-F238E27FC236}">
                  <a16:creationId xmlns:a16="http://schemas.microsoft.com/office/drawing/2014/main" id="{D1996888-BBA2-BA78-28B8-5F7EA755164E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54E24D7-DB34-89B8-4CDB-9335313B61D0}"/>
              </a:ext>
            </a:extLst>
          </p:cNvPr>
          <p:cNvGrpSpPr/>
          <p:nvPr/>
        </p:nvGrpSpPr>
        <p:grpSpPr>
          <a:xfrm>
            <a:off x="4470842" y="2532887"/>
            <a:ext cx="3747969" cy="3538754"/>
            <a:chOff x="369799" y="2835510"/>
            <a:chExt cx="2562041" cy="3047613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26F7A3E4-538E-5B2B-E242-A8A4565EB02C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70CF6B53-DF61-8241-D69D-E2E6755E7AAD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2" name="Shape 0">
            <a:extLst>
              <a:ext uri="{FF2B5EF4-FFF2-40B4-BE49-F238E27FC236}">
                <a16:creationId xmlns:a16="http://schemas.microsoft.com/office/drawing/2014/main" id="{65BFF083-8C62-BBDA-7DF7-9ECC635A10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02FDB3-5977-349F-FA7F-745CEB886B90}"/>
              </a:ext>
            </a:extLst>
          </p:cNvPr>
          <p:cNvSpPr/>
          <p:nvPr/>
        </p:nvSpPr>
        <p:spPr>
          <a:xfrm>
            <a:off x="669478" y="205715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4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084459-3650-06E5-5275-857E45006B4A}"/>
              </a:ext>
            </a:extLst>
          </p:cNvPr>
          <p:cNvSpPr/>
          <p:nvPr/>
        </p:nvSpPr>
        <p:spPr>
          <a:xfrm>
            <a:off x="657286" y="53489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What is </a:t>
            </a:r>
            <a:r>
              <a:rPr lang="en-US" sz="36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TiDB</a:t>
            </a:r>
            <a:r>
              <a:rPr lang="en-US" sz="3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?</a:t>
            </a:r>
            <a:endParaRPr lang="en-US" sz="3600">
              <a:latin typeface="Calibri"/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952E76-0CDB-5A55-5C8C-2683656A18E1}"/>
              </a:ext>
            </a:extLst>
          </p:cNvPr>
          <p:cNvSpPr txBox="1">
            <a:spLocks/>
          </p:cNvSpPr>
          <p:nvPr/>
        </p:nvSpPr>
        <p:spPr>
          <a:xfrm>
            <a:off x="594545" y="1558987"/>
            <a:ext cx="10515600" cy="1326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err="1"/>
              <a:t>TiDB</a:t>
            </a:r>
            <a:r>
              <a:rPr lang="en-US" sz="2000"/>
              <a:t>  with "Ti" stands for Titanium, is an advanced open-source SQL database that supports Hybrid Transactional and Analytical Processing (HTAP) workloads (combining OLTP and OLAP).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79BE28A-DECF-0564-2D83-DEBD03EFA266}"/>
              </a:ext>
            </a:extLst>
          </p:cNvPr>
          <p:cNvGrpSpPr/>
          <p:nvPr/>
        </p:nvGrpSpPr>
        <p:grpSpPr>
          <a:xfrm>
            <a:off x="594545" y="2542032"/>
            <a:ext cx="3709318" cy="3538754"/>
            <a:chOff x="369799" y="2835510"/>
            <a:chExt cx="2562041" cy="3047613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F55374BB-B2DF-8FA9-7E9B-EBEC86506292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45A9C6A9-7925-0D8A-1A10-20D6819EA536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11" name="Text 8">
            <a:extLst>
              <a:ext uri="{FF2B5EF4-FFF2-40B4-BE49-F238E27FC236}">
                <a16:creationId xmlns:a16="http://schemas.microsoft.com/office/drawing/2014/main" id="{9866FC8B-CF5E-143A-1BB9-D05013D8A7A0}"/>
              </a:ext>
            </a:extLst>
          </p:cNvPr>
          <p:cNvSpPr/>
          <p:nvPr/>
        </p:nvSpPr>
        <p:spPr>
          <a:xfrm>
            <a:off x="1226643" y="2610840"/>
            <a:ext cx="2326991" cy="45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Created by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95AA14D-78A6-6626-8D27-64891965F5A7}"/>
              </a:ext>
            </a:extLst>
          </p:cNvPr>
          <p:cNvSpPr/>
          <p:nvPr/>
        </p:nvSpPr>
        <p:spPr>
          <a:xfrm>
            <a:off x="783147" y="3429000"/>
            <a:ext cx="3250316" cy="2301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ea typeface="Calibri" pitchFamily="34" charset="-122"/>
                <a:cs typeface="Calibri" pitchFamily="34" charset="-120"/>
              </a:rPr>
              <a:t>PingCAP</a:t>
            </a:r>
            <a:r>
              <a:rPr lang="en-US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b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2015</a:t>
            </a:r>
          </a:p>
          <a:p>
            <a:endParaRPr lang="en-US" b="1">
              <a:solidFill>
                <a:srgbClr val="0D1B2A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</a:t>
            </a:r>
            <a:r>
              <a:rPr lang="en-US"/>
              <a:t> company founded by engineers focused on solving </a:t>
            </a:r>
            <a:r>
              <a:rPr lang="en-US" b="1"/>
              <a:t>database scalability problems</a:t>
            </a:r>
            <a:r>
              <a:rPr lang="en-US"/>
              <a:t> at large scale</a:t>
            </a:r>
            <a:endParaRPr lang="en-US">
              <a:solidFill>
                <a:srgbClr val="0D1B2A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>
              <a:solidFill>
                <a:srgbClr val="0D1B2A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4165E16-0FA5-CB37-18A0-EB2A29CEFE6F}"/>
              </a:ext>
            </a:extLst>
          </p:cNvPr>
          <p:cNvSpPr/>
          <p:nvPr/>
        </p:nvSpPr>
        <p:spPr>
          <a:xfrm>
            <a:off x="5097842" y="2640497"/>
            <a:ext cx="2326991" cy="45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by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B6DB952-2FC8-9CE9-1E9C-9D93ECB0D3A3}"/>
              </a:ext>
            </a:extLst>
          </p:cNvPr>
          <p:cNvSpPr/>
          <p:nvPr/>
        </p:nvSpPr>
        <p:spPr>
          <a:xfrm>
            <a:off x="4597155" y="3159249"/>
            <a:ext cx="3328364" cy="294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Industries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Finance </a:t>
            </a:r>
            <a:r>
              <a:rPr lang="en-US"/>
              <a:t>→ secure transactions &amp; data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E-commerce</a:t>
            </a:r>
            <a:r>
              <a:rPr lang="en-US"/>
              <a:t> → high traffic &amp; horizontal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SaaS / Internet Apps </a:t>
            </a:r>
            <a:r>
              <a:rPr lang="en-US"/>
              <a:t>→ real-time analytics</a:t>
            </a:r>
          </a:p>
          <a:p>
            <a:endParaRPr lang="en-US" sz="800"/>
          </a:p>
          <a:p>
            <a:r>
              <a:rPr lang="en-US" err="1"/>
              <a:t>TiDB</a:t>
            </a:r>
            <a:r>
              <a:rPr lang="en-US"/>
              <a:t> powers Bolt, LinkedIn, Pinterest, Square and more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5846203-D36E-6F2E-BBEE-BBF1A66EE857}"/>
              </a:ext>
            </a:extLst>
          </p:cNvPr>
          <p:cNvSpPr/>
          <p:nvPr/>
        </p:nvSpPr>
        <p:spPr>
          <a:xfrm>
            <a:off x="8673152" y="2649642"/>
            <a:ext cx="3421956" cy="45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</a:t>
            </a:r>
            <a:endParaRPr lang="en-US" sz="24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9E05BAC-8D16-1F93-8B77-464285398548}"/>
              </a:ext>
            </a:extLst>
          </p:cNvPr>
          <p:cNvSpPr/>
          <p:nvPr/>
        </p:nvSpPr>
        <p:spPr>
          <a:xfrm>
            <a:off x="8681562" y="3425868"/>
            <a:ext cx="3079440" cy="2400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Real time Hybrid Transactional and Analytical Processing (</a:t>
            </a:r>
            <a:r>
              <a:rPr lang="en-US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HTAP)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Easy horizontal scaling </a:t>
            </a:r>
            <a:r>
              <a:rPr lang="en-US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Compatible with the MySQL protocol and MySQL ecosystem </a:t>
            </a:r>
            <a:r>
              <a:rPr lang="en-US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4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6AF2-4DE3-4ECB-9ABE-332F5399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3DF94527-5408-13FF-FAB1-4D67844F86A3}"/>
              </a:ext>
            </a:extLst>
          </p:cNvPr>
          <p:cNvSpPr/>
          <p:nvPr/>
        </p:nvSpPr>
        <p:spPr>
          <a:xfrm>
            <a:off x="576072" y="1874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15C0B1-AF1E-FC38-5D4F-818A8996B352}"/>
              </a:ext>
            </a:extLst>
          </p:cNvPr>
          <p:cNvSpPr/>
          <p:nvPr/>
        </p:nvSpPr>
        <p:spPr>
          <a:xfrm>
            <a:off x="576072" y="53348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A265-BA12-07D1-D5BB-028FE0A2B3F6}"/>
              </a:ext>
            </a:extLst>
          </p:cNvPr>
          <p:cNvSpPr txBox="1">
            <a:spLocks/>
          </p:cNvSpPr>
          <p:nvPr/>
        </p:nvSpPr>
        <p:spPr>
          <a:xfrm>
            <a:off x="448213" y="1791258"/>
            <a:ext cx="5905082" cy="29808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/>
              <a:t>Placement Driver (PD) Server</a:t>
            </a:r>
            <a:br>
              <a:rPr lang="en-US" sz="1800"/>
            </a:br>
            <a:r>
              <a:rPr lang="en-US" sz="1800"/>
              <a:t>The PD server acts as the “brain” of the system. </a:t>
            </a:r>
          </a:p>
          <a:p>
            <a:pPr lvl="1"/>
            <a:r>
              <a:rPr lang="en-US" sz="1800"/>
              <a:t>Manages metadata, tracks where data is stored</a:t>
            </a:r>
          </a:p>
          <a:p>
            <a:pPr lvl="1"/>
            <a:r>
              <a:rPr lang="en-US" sz="1800"/>
              <a:t>Controls how data is distributed across the cluster</a:t>
            </a:r>
          </a:p>
          <a:p>
            <a:r>
              <a:rPr lang="en-US" sz="1800" b="1" err="1"/>
              <a:t>TiDB</a:t>
            </a:r>
            <a:r>
              <a:rPr lang="en-US" sz="1800" b="1"/>
              <a:t> Server (SQL/ Compute Layer)</a:t>
            </a:r>
            <a:br>
              <a:rPr lang="en-US" sz="1800"/>
            </a:br>
            <a:r>
              <a:rPr lang="en-US" sz="1800"/>
              <a:t>The </a:t>
            </a:r>
            <a:r>
              <a:rPr lang="en-US" sz="1800" err="1"/>
              <a:t>TiDB</a:t>
            </a:r>
            <a:r>
              <a:rPr lang="en-US" sz="1800"/>
              <a:t> server is the front-facing layer that handles all SQL requests using MySQL protocol. It is stateless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9D23B95F-2B30-88E1-D433-9ACD09454B23}"/>
              </a:ext>
            </a:extLst>
          </p:cNvPr>
          <p:cNvSpPr/>
          <p:nvPr/>
        </p:nvSpPr>
        <p:spPr>
          <a:xfrm>
            <a:off x="0" y="-1270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F6BC233-5717-14B2-9530-FFCBEA1AB3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1272" r="6718"/>
          <a:stretch>
            <a:fillRect/>
          </a:stretch>
        </p:blipFill>
        <p:spPr bwMode="auto">
          <a:xfrm>
            <a:off x="6225436" y="721813"/>
            <a:ext cx="5905082" cy="3977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DBC2B4-2DCE-372C-1D70-F78B4EA3F890}"/>
              </a:ext>
            </a:extLst>
          </p:cNvPr>
          <p:cNvSpPr txBox="1">
            <a:spLocks/>
          </p:cNvSpPr>
          <p:nvPr/>
        </p:nvSpPr>
        <p:spPr>
          <a:xfrm>
            <a:off x="448213" y="4043271"/>
            <a:ext cx="11512296" cy="26272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/>
              <a:t>Storage Layer</a:t>
            </a:r>
            <a:endParaRPr lang="en-US" sz="1800"/>
          </a:p>
          <a:p>
            <a:pPr lvl="1"/>
            <a:r>
              <a:rPr lang="en-US" sz="1800" b="1" err="1"/>
              <a:t>TiKV</a:t>
            </a:r>
            <a:br>
              <a:rPr lang="en-US" sz="1800"/>
            </a:br>
            <a:r>
              <a:rPr lang="en-US" sz="1800" err="1"/>
              <a:t>TiKV</a:t>
            </a:r>
            <a:r>
              <a:rPr lang="en-US" sz="1800"/>
              <a:t> is the main storage engine where data is stored. </a:t>
            </a:r>
          </a:p>
          <a:p>
            <a:pPr lvl="2"/>
            <a:r>
              <a:rPr lang="en-US" sz="1800"/>
              <a:t>It splits data into smaller chunks called Regions, and automatically keeps 3 copies of each Region </a:t>
            </a:r>
          </a:p>
          <a:p>
            <a:pPr lvl="2"/>
            <a:r>
              <a:rPr lang="en-US" sz="1800"/>
              <a:t>It also supports transactions, making it reliable for everyday read and write operations</a:t>
            </a:r>
          </a:p>
          <a:p>
            <a:pPr lvl="1"/>
            <a:r>
              <a:rPr lang="en-US" sz="1800" b="1" err="1"/>
              <a:t>TiFlash</a:t>
            </a:r>
            <a:br>
              <a:rPr lang="en-US" sz="1800"/>
            </a:br>
            <a:r>
              <a:rPr lang="en-US" sz="1800" err="1"/>
              <a:t>TiFlash</a:t>
            </a:r>
            <a:r>
              <a:rPr lang="en-US" sz="1800"/>
              <a:t> is a special column-based storage engine designed for fast analytical queries. It works alongside </a:t>
            </a:r>
            <a:r>
              <a:rPr lang="en-US" sz="1800" err="1"/>
              <a:t>TiKV</a:t>
            </a:r>
            <a:r>
              <a:rPr lang="en-US" sz="1800"/>
              <a:t> to improve performance for reporting and large-scale data analysis.</a:t>
            </a:r>
          </a:p>
          <a:p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966A1-C2D6-279B-00F0-D1DAFD57CCAA}"/>
              </a:ext>
            </a:extLst>
          </p:cNvPr>
          <p:cNvSpPr txBox="1"/>
          <p:nvPr/>
        </p:nvSpPr>
        <p:spPr>
          <a:xfrm>
            <a:off x="0" y="1152612"/>
            <a:ext cx="8412480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</a:pPr>
            <a:r>
              <a:rPr lang="en-US"/>
              <a:t>The </a:t>
            </a:r>
            <a:r>
              <a:rPr lang="en-US" err="1"/>
              <a:t>TiDB</a:t>
            </a:r>
            <a:r>
              <a:rPr lang="en-US"/>
              <a:t> architecture design separates computing from storage.</a:t>
            </a:r>
          </a:p>
        </p:txBody>
      </p:sp>
    </p:spTree>
    <p:extLst>
      <p:ext uri="{BB962C8B-B14F-4D97-AF65-F5344CB8AC3E}">
        <p14:creationId xmlns:p14="http://schemas.microsoft.com/office/powerpoint/2010/main" val="302448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DFAF5-E5C9-FD9E-47A2-70EE3C97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8CB27921-2AE3-2EEB-E82E-B04E76392D70}"/>
              </a:ext>
            </a:extLst>
          </p:cNvPr>
          <p:cNvGrpSpPr/>
          <p:nvPr/>
        </p:nvGrpSpPr>
        <p:grpSpPr>
          <a:xfrm>
            <a:off x="551452" y="4478238"/>
            <a:ext cx="4310351" cy="2148732"/>
            <a:chOff x="369799" y="2787290"/>
            <a:chExt cx="2562041" cy="3095833"/>
          </a:xfrm>
        </p:grpSpPr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5EF17DF7-8DAF-7B22-1CF8-BC62E72E468E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9C6A6BD1-16C6-0ED8-86CC-678824578D58}"/>
                </a:ext>
              </a:extLst>
            </p:cNvPr>
            <p:cNvSpPr/>
            <p:nvPr/>
          </p:nvSpPr>
          <p:spPr>
            <a:xfrm>
              <a:off x="369799" y="278729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61D35E31-FEEF-50D6-2054-B92F2EB688EE}"/>
              </a:ext>
            </a:extLst>
          </p:cNvPr>
          <p:cNvSpPr/>
          <p:nvPr/>
        </p:nvSpPr>
        <p:spPr>
          <a:xfrm>
            <a:off x="663704" y="20593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6D641FA-A04F-31D2-1593-FE26ACAFB6AC}"/>
              </a:ext>
            </a:extLst>
          </p:cNvPr>
          <p:cNvSpPr/>
          <p:nvPr/>
        </p:nvSpPr>
        <p:spPr>
          <a:xfrm>
            <a:off x="663704" y="464132"/>
            <a:ext cx="1013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How Your Data Flows (</a:t>
            </a:r>
            <a:r>
              <a:rPr lang="en-US" sz="3600" b="1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TiKV</a:t>
            </a:r>
            <a:r>
              <a:rPr lang="en-US" sz="3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Cluster)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E7796-D5DB-E242-08A4-280F6CBD73B0}"/>
              </a:ext>
            </a:extLst>
          </p:cNvPr>
          <p:cNvSpPr txBox="1">
            <a:spLocks/>
          </p:cNvSpPr>
          <p:nvPr/>
        </p:nvSpPr>
        <p:spPr>
          <a:xfrm>
            <a:off x="2578608" y="664814"/>
            <a:ext cx="8485632" cy="1950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47165FA8-274C-5FEF-9E4D-0AF2D849BF31}"/>
              </a:ext>
            </a:extLst>
          </p:cNvPr>
          <p:cNvSpPr/>
          <p:nvPr/>
        </p:nvSpPr>
        <p:spPr>
          <a:xfrm>
            <a:off x="0" y="-1270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B7E670-607E-6645-34C1-8DF80E3C4B8E}"/>
              </a:ext>
            </a:extLst>
          </p:cNvPr>
          <p:cNvGrpSpPr/>
          <p:nvPr/>
        </p:nvGrpSpPr>
        <p:grpSpPr>
          <a:xfrm>
            <a:off x="7144630" y="4476095"/>
            <a:ext cx="4291755" cy="2184343"/>
            <a:chOff x="369799" y="2835510"/>
            <a:chExt cx="2562041" cy="3047613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C6C7825E-D634-3CD5-3BF8-C68560EBBE07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0CC97D7A-09AC-F4E7-8938-7215DBAB56A1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EA4A417-5056-E44D-A160-64300D032D3B}"/>
              </a:ext>
            </a:extLst>
          </p:cNvPr>
          <p:cNvSpPr txBox="1"/>
          <p:nvPr/>
        </p:nvSpPr>
        <p:spPr>
          <a:xfrm>
            <a:off x="7289296" y="4510806"/>
            <a:ext cx="226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Storage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6B07E-6577-A296-2BC1-5ED3399E84E6}"/>
              </a:ext>
            </a:extLst>
          </p:cNvPr>
          <p:cNvSpPr txBox="1"/>
          <p:nvPr/>
        </p:nvSpPr>
        <p:spPr>
          <a:xfrm>
            <a:off x="7144632" y="4956298"/>
            <a:ext cx="42917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/>
              <a:t>TiKV</a:t>
            </a:r>
            <a:r>
              <a:rPr lang="en-US" sz="1600"/>
              <a:t> uses </a:t>
            </a:r>
            <a:r>
              <a:rPr lang="en-US" sz="1600" b="1" err="1"/>
              <a:t>RocksDB</a:t>
            </a:r>
            <a:r>
              <a:rPr lang="en-US" sz="1600"/>
              <a:t>, which is built on an LSM-tree structure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This design is optimized for high write performance by writing data sequentially and merging it in the background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6CBF5B-0A05-ED55-6084-653FF19ED219}"/>
              </a:ext>
            </a:extLst>
          </p:cNvPr>
          <p:cNvGrpSpPr/>
          <p:nvPr/>
        </p:nvGrpSpPr>
        <p:grpSpPr>
          <a:xfrm>
            <a:off x="7227423" y="1207494"/>
            <a:ext cx="4208964" cy="2148732"/>
            <a:chOff x="-669164" y="2563975"/>
            <a:chExt cx="2562042" cy="3047614"/>
          </a:xfrm>
        </p:grpSpPr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947F052A-50B1-4B75-7FE8-B719C2CF1898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26761AA2-4D81-9B2E-ED43-2BDB6C35EE67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068C27-08D9-940B-347A-3F750A8A1465}"/>
              </a:ext>
            </a:extLst>
          </p:cNvPr>
          <p:cNvGrpSpPr/>
          <p:nvPr/>
        </p:nvGrpSpPr>
        <p:grpSpPr>
          <a:xfrm>
            <a:off x="464188" y="1213295"/>
            <a:ext cx="4031484" cy="2148733"/>
            <a:chOff x="-669164" y="2563975"/>
            <a:chExt cx="2562042" cy="3047614"/>
          </a:xfrm>
        </p:grpSpPr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018177E5-66E5-AD69-84D4-513821E82828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9F364EAF-F1E9-57A9-82D7-D36E596474E7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C6A2915-2F2E-D97A-D662-A7958C6621CB}"/>
              </a:ext>
            </a:extLst>
          </p:cNvPr>
          <p:cNvSpPr txBox="1"/>
          <p:nvPr/>
        </p:nvSpPr>
        <p:spPr>
          <a:xfrm>
            <a:off x="7289296" y="1265779"/>
            <a:ext cx="1661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Node Roles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B84531-C59C-6839-0F6A-DC71CB783832}"/>
              </a:ext>
            </a:extLst>
          </p:cNvPr>
          <p:cNvSpPr txBox="1"/>
          <p:nvPr/>
        </p:nvSpPr>
        <p:spPr>
          <a:xfrm>
            <a:off x="898428" y="1325373"/>
            <a:ext cx="1945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Data Partitioning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164E22-D16F-2DBC-FCAB-14A0AD67020A}"/>
              </a:ext>
            </a:extLst>
          </p:cNvPr>
          <p:cNvSpPr txBox="1"/>
          <p:nvPr/>
        </p:nvSpPr>
        <p:spPr>
          <a:xfrm>
            <a:off x="564393" y="453552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>
                <a:solidFill>
                  <a:schemeClr val="bg1"/>
                </a:solidFill>
              </a:rPr>
              <a:t>Consensus Protocol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8552B6-6BFB-68C4-FDB6-E7D629F8FA93}"/>
              </a:ext>
            </a:extLst>
          </p:cNvPr>
          <p:cNvSpPr txBox="1"/>
          <p:nvPr/>
        </p:nvSpPr>
        <p:spPr>
          <a:xfrm>
            <a:off x="564393" y="4883092"/>
            <a:ext cx="4078595" cy="177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Uses Raft (per Region) for distributed consensus</a:t>
            </a:r>
          </a:p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write is replicated as a log entry across multiple nodes</a:t>
            </a:r>
          </a:p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write succeeds only after a majority (</a:t>
            </a:r>
            <a:r>
              <a:rPr lang="en-US" sz="16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quorum</a:t>
            </a: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agrees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AA706F-968E-04A9-BDF6-4FC29740947C}"/>
              </a:ext>
            </a:extLst>
          </p:cNvPr>
          <p:cNvSpPr txBox="1"/>
          <p:nvPr/>
        </p:nvSpPr>
        <p:spPr>
          <a:xfrm>
            <a:off x="500058" y="1719338"/>
            <a:ext cx="4031484" cy="1211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Range-based partitioning</a:t>
            </a:r>
          </a:p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is split into Regions (key ranges)</a:t>
            </a:r>
          </a:p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Regions are automatically split and rebalanced</a:t>
            </a:r>
            <a:r>
              <a:rPr lang="en-US" sz="16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across nodes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22750D-A676-52CA-34CB-71B411F52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58" t="41282" r="6300" b="17238"/>
          <a:stretch>
            <a:fillRect/>
          </a:stretch>
        </p:blipFill>
        <p:spPr bwMode="auto">
          <a:xfrm>
            <a:off x="4105787" y="2294682"/>
            <a:ext cx="3689434" cy="217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A98427C-3BE0-BDBA-6A54-97736471AE1C}"/>
              </a:ext>
            </a:extLst>
          </p:cNvPr>
          <p:cNvSpPr txBox="1"/>
          <p:nvPr/>
        </p:nvSpPr>
        <p:spPr>
          <a:xfrm>
            <a:off x="7569898" y="1594727"/>
            <a:ext cx="3592901" cy="1211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Leader–Follower model within each Region</a:t>
            </a:r>
          </a:p>
          <a:p>
            <a:pPr marL="285750" marR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/>
              <a:t>Leader handles writes, followers replicate data</a:t>
            </a: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4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277D-596E-1983-D1DC-90D17F56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EB32D2D5-DEA0-9118-CB59-78AF119757EA}"/>
              </a:ext>
            </a:extLst>
          </p:cNvPr>
          <p:cNvSpPr/>
          <p:nvPr/>
        </p:nvSpPr>
        <p:spPr>
          <a:xfrm>
            <a:off x="595887" y="193383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66D79-FF18-D6B8-B385-3989951B5697}"/>
              </a:ext>
            </a:extLst>
          </p:cNvPr>
          <p:cNvSpPr txBox="1">
            <a:spLocks/>
          </p:cNvSpPr>
          <p:nvPr/>
        </p:nvSpPr>
        <p:spPr>
          <a:xfrm>
            <a:off x="350520" y="1093590"/>
            <a:ext cx="3425952" cy="11687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26CDFA-1AA1-35AF-4B29-802BBB336A5A}"/>
              </a:ext>
            </a:extLst>
          </p:cNvPr>
          <p:cNvSpPr/>
          <p:nvPr/>
        </p:nvSpPr>
        <p:spPr>
          <a:xfrm>
            <a:off x="573661" y="484802"/>
            <a:ext cx="4937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</a:t>
            </a:r>
            <a:endParaRPr lang="en-US" sz="320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57082923-FCFA-AF24-DD76-644233EC05FF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4721216-DCD0-EFE3-F0D3-9C9EC07CC5AB}"/>
              </a:ext>
            </a:extLst>
          </p:cNvPr>
          <p:cNvGrpSpPr/>
          <p:nvPr/>
        </p:nvGrpSpPr>
        <p:grpSpPr>
          <a:xfrm>
            <a:off x="212185" y="1219173"/>
            <a:ext cx="6412756" cy="4952433"/>
            <a:chOff x="3870960" y="1232762"/>
            <a:chExt cx="4325111" cy="381749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6020726-75A7-72AE-98A1-7E228427FDB3}"/>
                </a:ext>
              </a:extLst>
            </p:cNvPr>
            <p:cNvGrpSpPr/>
            <p:nvPr/>
          </p:nvGrpSpPr>
          <p:grpSpPr>
            <a:xfrm>
              <a:off x="4632960" y="1840838"/>
              <a:ext cx="2468880" cy="2196238"/>
              <a:chOff x="5090160" y="2116836"/>
              <a:chExt cx="2011680" cy="1920240"/>
            </a:xfrm>
          </p:grpSpPr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829F63AD-53EB-0B86-384B-45B7F8733B53}"/>
                  </a:ext>
                </a:extLst>
              </p:cNvPr>
              <p:cNvSpPr/>
              <p:nvPr/>
            </p:nvSpPr>
            <p:spPr>
              <a:xfrm flipH="1">
                <a:off x="5090160" y="2116836"/>
                <a:ext cx="1005840" cy="1920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Shape 5">
                <a:extLst>
                  <a:ext uri="{FF2B5EF4-FFF2-40B4-BE49-F238E27FC236}">
                    <a16:creationId xmlns:a16="http://schemas.microsoft.com/office/drawing/2014/main" id="{10B10A13-32C7-EA52-3BEE-54C2FE639D23}"/>
                  </a:ext>
                </a:extLst>
              </p:cNvPr>
              <p:cNvSpPr/>
              <p:nvPr/>
            </p:nvSpPr>
            <p:spPr>
              <a:xfrm>
                <a:off x="6096000" y="2116836"/>
                <a:ext cx="1005840" cy="1920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r>
                  <a:rPr lang="en-US"/>
                  <a:t> </a:t>
                </a:r>
              </a:p>
            </p:txBody>
          </p:sp>
          <p:sp>
            <p:nvSpPr>
              <p:cNvPr id="22" name="Shape 6">
                <a:extLst>
                  <a:ext uri="{FF2B5EF4-FFF2-40B4-BE49-F238E27FC236}">
                    <a16:creationId xmlns:a16="http://schemas.microsoft.com/office/drawing/2014/main" id="{01C2BA27-2153-41F5-534A-5FC9AB967A5C}"/>
                  </a:ext>
                </a:extLst>
              </p:cNvPr>
              <p:cNvSpPr/>
              <p:nvPr/>
            </p:nvSpPr>
            <p:spPr>
              <a:xfrm>
                <a:off x="5090160" y="4037076"/>
                <a:ext cx="2011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1A99BA18-E00B-CA9A-B7B6-0339AE7A45DD}"/>
                </a:ext>
              </a:extLst>
            </p:cNvPr>
            <p:cNvSpPr/>
            <p:nvPr/>
          </p:nvSpPr>
          <p:spPr>
            <a:xfrm>
              <a:off x="5169408" y="1232762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>
                  <a:solidFill>
                    <a:schemeClr val="tx1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Consistency</a:t>
              </a:r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5F65D9CF-2E67-7B37-3F9A-342BE28EF694}"/>
                </a:ext>
              </a:extLst>
            </p:cNvPr>
            <p:cNvSpPr/>
            <p:nvPr/>
          </p:nvSpPr>
          <p:spPr>
            <a:xfrm>
              <a:off x="3870960" y="4293108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>
                  <a:solidFill>
                    <a:schemeClr val="tx1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Availability</a:t>
              </a:r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37BDF96D-CA1B-6AB4-8F7D-401CA56D9C66}"/>
                </a:ext>
              </a:extLst>
            </p:cNvPr>
            <p:cNvSpPr/>
            <p:nvPr/>
          </p:nvSpPr>
          <p:spPr>
            <a:xfrm>
              <a:off x="6455666" y="4278789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>
                  <a:solidFill>
                    <a:schemeClr val="tx1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Partition Tolerance</a:t>
              </a:r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0BA80C72-0521-7CA2-7DA3-183839AEC383}"/>
                </a:ext>
              </a:extLst>
            </p:cNvPr>
            <p:cNvSpPr/>
            <p:nvPr/>
          </p:nvSpPr>
          <p:spPr>
            <a:xfrm>
              <a:off x="6178301" y="4624222"/>
              <a:ext cx="2017770" cy="4260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 sz="2400">
                  <a:solidFill>
                    <a:srgbClr val="860000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PostgreSQL = CP</a:t>
              </a:r>
              <a:endParaRPr lang="en-US" sz="2400">
                <a:solidFill>
                  <a:srgbClr val="860000"/>
                </a:solidFill>
                <a:latin typeface="+mn-lt"/>
              </a:endParaRPr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3F67BC73-8FB0-1C6B-A648-C64949CB5F7A}"/>
                </a:ext>
              </a:extLst>
            </p:cNvPr>
            <p:cNvSpPr/>
            <p:nvPr/>
          </p:nvSpPr>
          <p:spPr>
            <a:xfrm>
              <a:off x="3927701" y="4761890"/>
              <a:ext cx="1653542" cy="2749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 sz="2400">
                  <a:solidFill>
                    <a:srgbClr val="860000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Cassandra = AP</a:t>
              </a:r>
              <a:endParaRPr lang="en-US" sz="2400">
                <a:solidFill>
                  <a:srgbClr val="860000"/>
                </a:solidFill>
                <a:latin typeface="+mn-lt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C027015-0970-CE59-E57E-06F2282E8BFA}"/>
                </a:ext>
              </a:extLst>
            </p:cNvPr>
            <p:cNvSpPr/>
            <p:nvPr/>
          </p:nvSpPr>
          <p:spPr>
            <a:xfrm>
              <a:off x="6129534" y="2477670"/>
              <a:ext cx="798574" cy="50640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Calibri" pitchFamily="34" charset="-122"/>
                  <a:cs typeface="Calibri" pitchFamily="34" charset="-120"/>
                </a:rPr>
                <a:t>TiDB</a:t>
              </a:r>
              <a:endParaRPr 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DB3B119-DFD1-F0B4-59D2-6719E67D3291}"/>
                </a:ext>
              </a:extLst>
            </p:cNvPr>
            <p:cNvSpPr/>
            <p:nvPr/>
          </p:nvSpPr>
          <p:spPr>
            <a:xfrm>
              <a:off x="5643375" y="1676246"/>
              <a:ext cx="445008" cy="365760"/>
            </a:xfrm>
            <a:prstGeom prst="ellipse">
              <a:avLst/>
            </a:prstGeom>
            <a:solidFill>
              <a:srgbClr val="5C0000"/>
            </a:solidFill>
            <a:ln>
              <a:solidFill>
                <a:srgbClr val="5C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5DA84A6-8BB3-263B-FF1B-C761937D7031}"/>
                </a:ext>
              </a:extLst>
            </p:cNvPr>
            <p:cNvSpPr/>
            <p:nvPr/>
          </p:nvSpPr>
          <p:spPr>
            <a:xfrm>
              <a:off x="4443984" y="3808479"/>
              <a:ext cx="445008" cy="365760"/>
            </a:xfrm>
            <a:prstGeom prst="ellipse">
              <a:avLst/>
            </a:prstGeom>
            <a:solidFill>
              <a:srgbClr val="860000"/>
            </a:solidFill>
            <a:ln>
              <a:solidFill>
                <a:srgbClr val="86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32C793FD-C384-4D51-B517-4F5ADD4AA840}"/>
                </a:ext>
              </a:extLst>
            </p:cNvPr>
            <p:cNvSpPr/>
            <p:nvPr/>
          </p:nvSpPr>
          <p:spPr>
            <a:xfrm>
              <a:off x="4349493" y="3829049"/>
              <a:ext cx="621794" cy="306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4A80DFA4-868F-65F1-C98A-64B9E87689EF}"/>
                </a:ext>
              </a:extLst>
            </p:cNvPr>
            <p:cNvSpPr/>
            <p:nvPr/>
          </p:nvSpPr>
          <p:spPr>
            <a:xfrm>
              <a:off x="5643375" y="1731109"/>
              <a:ext cx="437385" cy="201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Calibri" pitchFamily="34" charset="-122"/>
                  <a:cs typeface="Calibri" pitchFamily="34" charset="-120"/>
                </a:rPr>
                <a:t>C</a:t>
              </a:r>
              <a:endPara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489CD5B-F07F-EC27-0DDE-DCD82FBBD4B9}"/>
                </a:ext>
              </a:extLst>
            </p:cNvPr>
            <p:cNvSpPr/>
            <p:nvPr/>
          </p:nvSpPr>
          <p:spPr>
            <a:xfrm>
              <a:off x="6890004" y="3895947"/>
              <a:ext cx="445008" cy="36576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3480F54E-FFEB-AB15-3AF4-34E854C7C0B0}"/>
                </a:ext>
              </a:extLst>
            </p:cNvPr>
            <p:cNvSpPr/>
            <p:nvPr/>
          </p:nvSpPr>
          <p:spPr>
            <a:xfrm>
              <a:off x="6928108" y="3981608"/>
              <a:ext cx="341376" cy="2043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/>
                </a:defRPr>
              </a:lvl9pPr>
            </a:lstStyle>
            <a:p>
              <a:pPr marL="0" indent="0" algn="ctr">
                <a:buNone/>
              </a:pPr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Calibri" pitchFamily="34" charset="-122"/>
                  <a:cs typeface="Calibri" pitchFamily="34" charset="-120"/>
                </a:rPr>
                <a:t>P</a:t>
              </a:r>
              <a:endPara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EA972A9-9809-B5F7-4606-4F01CD4E1F9C}"/>
              </a:ext>
            </a:extLst>
          </p:cNvPr>
          <p:cNvGrpSpPr/>
          <p:nvPr/>
        </p:nvGrpSpPr>
        <p:grpSpPr>
          <a:xfrm>
            <a:off x="6518152" y="2855847"/>
            <a:ext cx="5377536" cy="1270599"/>
            <a:chOff x="2834640" y="1088134"/>
            <a:chExt cx="6053106" cy="1335026"/>
          </a:xfrm>
        </p:grpSpPr>
        <p:sp>
          <p:nvSpPr>
            <p:cNvPr id="56" name="Shape 22">
              <a:extLst>
                <a:ext uri="{FF2B5EF4-FFF2-40B4-BE49-F238E27FC236}">
                  <a16:creationId xmlns:a16="http://schemas.microsoft.com/office/drawing/2014/main" id="{202AEF2D-5755-11E7-A9C4-07DB02DDC752}"/>
                </a:ext>
              </a:extLst>
            </p:cNvPr>
            <p:cNvSpPr/>
            <p:nvPr/>
          </p:nvSpPr>
          <p:spPr>
            <a:xfrm>
              <a:off x="2834640" y="1088134"/>
              <a:ext cx="6053106" cy="13350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r>
                <a:rPr lang="en-US"/>
                <a:t>The </a:t>
              </a:r>
              <a:r>
                <a:rPr lang="en-US" b="1"/>
                <a:t>system favors consistency</a:t>
              </a:r>
              <a:r>
                <a:rPr lang="en-US"/>
                <a:t>. Writes requiring quorum are blocked until the partition heals. Reads can be served via follower reads to preserve some availability.</a:t>
              </a:r>
              <a:endParaRPr lang="en-US" sz="1100"/>
            </a:p>
          </p:txBody>
        </p:sp>
        <p:sp>
          <p:nvSpPr>
            <p:cNvPr id="57" name="Shape 23">
              <a:extLst>
                <a:ext uri="{FF2B5EF4-FFF2-40B4-BE49-F238E27FC236}">
                  <a16:creationId xmlns:a16="http://schemas.microsoft.com/office/drawing/2014/main" id="{542BE026-4384-DB55-0B77-D7A7D46AD400}"/>
                </a:ext>
              </a:extLst>
            </p:cNvPr>
            <p:cNvSpPr/>
            <p:nvPr/>
          </p:nvSpPr>
          <p:spPr>
            <a:xfrm>
              <a:off x="2834640" y="1097280"/>
              <a:ext cx="54864" cy="132588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58" name="Text 28">
            <a:extLst>
              <a:ext uri="{FF2B5EF4-FFF2-40B4-BE49-F238E27FC236}">
                <a16:creationId xmlns:a16="http://schemas.microsoft.com/office/drawing/2014/main" id="{5AA9943A-637E-D8AD-EFD5-77F6982A86D9}"/>
              </a:ext>
            </a:extLst>
          </p:cNvPr>
          <p:cNvSpPr/>
          <p:nvPr/>
        </p:nvSpPr>
        <p:spPr>
          <a:xfrm>
            <a:off x="6513454" y="251879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network partition</a:t>
            </a:r>
            <a:endParaRPr lang="en-US" sz="2000">
              <a:solidFill>
                <a:srgbClr val="860000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876B01-1E2D-4A92-A70F-222451702153}"/>
              </a:ext>
            </a:extLst>
          </p:cNvPr>
          <p:cNvGrpSpPr/>
          <p:nvPr/>
        </p:nvGrpSpPr>
        <p:grpSpPr>
          <a:xfrm>
            <a:off x="6513454" y="4785249"/>
            <a:ext cx="5376946" cy="1184577"/>
            <a:chOff x="2834640" y="1088135"/>
            <a:chExt cx="5632089" cy="1335025"/>
          </a:xfrm>
        </p:grpSpPr>
        <p:sp>
          <p:nvSpPr>
            <p:cNvPr id="62" name="Shape 22">
              <a:extLst>
                <a:ext uri="{FF2B5EF4-FFF2-40B4-BE49-F238E27FC236}">
                  <a16:creationId xmlns:a16="http://schemas.microsoft.com/office/drawing/2014/main" id="{F0E2BFAD-B6FF-B43F-F3FC-57799F067673}"/>
                </a:ext>
              </a:extLst>
            </p:cNvPr>
            <p:cNvSpPr/>
            <p:nvPr/>
          </p:nvSpPr>
          <p:spPr>
            <a:xfrm>
              <a:off x="2834640" y="1088135"/>
              <a:ext cx="5632089" cy="133502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r>
                <a:rPr lang="en-US"/>
                <a:t>Limited flexibility: replica placement and follower reads (stale reads) improve availability for certain workloads, but the core CP guarantee is fixed by Raft.​</a:t>
              </a:r>
              <a:endParaRPr lang="en-US" sz="1100"/>
            </a:p>
          </p:txBody>
        </p:sp>
        <p:sp>
          <p:nvSpPr>
            <p:cNvPr id="63" name="Shape 23">
              <a:extLst>
                <a:ext uri="{FF2B5EF4-FFF2-40B4-BE49-F238E27FC236}">
                  <a16:creationId xmlns:a16="http://schemas.microsoft.com/office/drawing/2014/main" id="{B21F8CC9-DCCB-22C5-A6B2-0854963274C3}"/>
                </a:ext>
              </a:extLst>
            </p:cNvPr>
            <p:cNvSpPr/>
            <p:nvPr/>
          </p:nvSpPr>
          <p:spPr>
            <a:xfrm>
              <a:off x="2834640" y="1097280"/>
              <a:ext cx="54864" cy="132588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63FA512-CBA9-A312-36FD-7C8E2A487FEE}"/>
              </a:ext>
            </a:extLst>
          </p:cNvPr>
          <p:cNvSpPr txBox="1"/>
          <p:nvPr/>
        </p:nvSpPr>
        <p:spPr>
          <a:xfrm>
            <a:off x="6425443" y="4389196"/>
            <a:ext cx="60281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>
                <a:solidFill>
                  <a:srgbClr val="860000"/>
                </a:solidFill>
                <a:effectLst/>
                <a:latin typeface="Calibri" panose="020F0502020204030204" pitchFamily="34" charset="0"/>
              </a:rPr>
              <a:t>Can users configure this trade-off?</a:t>
            </a:r>
            <a:endParaRPr lang="en-US" sz="2000">
              <a:solidFill>
                <a:srgbClr val="86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0BFEB4-7E1E-1821-17AC-A506DC5A8EBE}"/>
              </a:ext>
            </a:extLst>
          </p:cNvPr>
          <p:cNvGrpSpPr/>
          <p:nvPr/>
        </p:nvGrpSpPr>
        <p:grpSpPr>
          <a:xfrm>
            <a:off x="6513454" y="1065379"/>
            <a:ext cx="5554465" cy="1237312"/>
            <a:chOff x="2834640" y="1097279"/>
            <a:chExt cx="6126480" cy="1325881"/>
          </a:xfrm>
        </p:grpSpPr>
        <p:sp>
          <p:nvSpPr>
            <p:cNvPr id="4" name="Shape 22">
              <a:extLst>
                <a:ext uri="{FF2B5EF4-FFF2-40B4-BE49-F238E27FC236}">
                  <a16:creationId xmlns:a16="http://schemas.microsoft.com/office/drawing/2014/main" id="{E4854E76-BBCC-9D24-BA14-00FEB88D0C12}"/>
                </a:ext>
              </a:extLst>
            </p:cNvPr>
            <p:cNvSpPr/>
            <p:nvPr/>
          </p:nvSpPr>
          <p:spPr>
            <a:xfrm>
              <a:off x="2834640" y="1097279"/>
              <a:ext cx="6126480" cy="13258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r>
                <a:rPr lang="en-US" err="1"/>
                <a:t>TiDB</a:t>
              </a:r>
              <a:r>
                <a:rPr lang="en-US"/>
                <a:t>  is designed to balance all three as much as possible. It keeps data consistent and handles network issues but might become unavailable during a failure rather than serve outdated data.</a:t>
              </a:r>
            </a:p>
          </p:txBody>
        </p:sp>
        <p:sp>
          <p:nvSpPr>
            <p:cNvPr id="7" name="Shape 23">
              <a:extLst>
                <a:ext uri="{FF2B5EF4-FFF2-40B4-BE49-F238E27FC236}">
                  <a16:creationId xmlns:a16="http://schemas.microsoft.com/office/drawing/2014/main" id="{111B65B4-91E7-BE32-8C89-125ACB037C06}"/>
                </a:ext>
              </a:extLst>
            </p:cNvPr>
            <p:cNvSpPr/>
            <p:nvPr/>
          </p:nvSpPr>
          <p:spPr>
            <a:xfrm>
              <a:off x="2834640" y="1097280"/>
              <a:ext cx="54864" cy="132588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81FD189-D764-C840-285A-E02AED91D071}"/>
              </a:ext>
            </a:extLst>
          </p:cNvPr>
          <p:cNvSpPr txBox="1"/>
          <p:nvPr/>
        </p:nvSpPr>
        <p:spPr>
          <a:xfrm>
            <a:off x="6449496" y="60257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err="1">
                <a:solidFill>
                  <a:srgbClr val="860000"/>
                </a:solidFill>
                <a:effectLst/>
                <a:latin typeface="Calibri" panose="020F0502020204030204" pitchFamily="34" charset="0"/>
              </a:rPr>
              <a:t>TiDB</a:t>
            </a:r>
            <a:r>
              <a:rPr lang="en-US" sz="2000" b="1" i="0" u="none" strike="noStrike">
                <a:solidFill>
                  <a:srgbClr val="860000"/>
                </a:solidFill>
                <a:effectLst/>
                <a:latin typeface="Calibri" panose="020F0502020204030204" pitchFamily="34" charset="0"/>
              </a:rPr>
              <a:t> is CP</a:t>
            </a:r>
            <a:endParaRPr lang="en-US" sz="2000">
              <a:solidFill>
                <a:srgbClr val="8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57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EE05-A334-9429-260A-6FCC3459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A603FC2-5F5F-0CFC-4F72-15DB108F342D}"/>
              </a:ext>
            </a:extLst>
          </p:cNvPr>
          <p:cNvGrpSpPr/>
          <p:nvPr/>
        </p:nvGrpSpPr>
        <p:grpSpPr>
          <a:xfrm>
            <a:off x="8359326" y="3258568"/>
            <a:ext cx="3550752" cy="2773435"/>
            <a:chOff x="-669164" y="2563975"/>
            <a:chExt cx="2562042" cy="3047614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CA7758BA-E826-8460-970B-F74F37BB7AB0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AE5575E6-1A01-B97F-BF15-AEC7CE819D43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9AA5AA-76D1-2266-C501-906D5CC259F9}"/>
              </a:ext>
            </a:extLst>
          </p:cNvPr>
          <p:cNvGrpSpPr/>
          <p:nvPr/>
        </p:nvGrpSpPr>
        <p:grpSpPr>
          <a:xfrm>
            <a:off x="4534212" y="3258568"/>
            <a:ext cx="3550752" cy="2773435"/>
            <a:chOff x="-669164" y="2563975"/>
            <a:chExt cx="2562042" cy="3047614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657E3843-A426-63BD-A942-21BBA14B99C9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C84049DA-99CE-4026-7B8A-21CC278A8FFB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17D1579-3D25-4EBF-571A-A93118DAC3F9}"/>
              </a:ext>
            </a:extLst>
          </p:cNvPr>
          <p:cNvGrpSpPr/>
          <p:nvPr/>
        </p:nvGrpSpPr>
        <p:grpSpPr>
          <a:xfrm>
            <a:off x="718836" y="3258568"/>
            <a:ext cx="3492364" cy="2773435"/>
            <a:chOff x="-669164" y="2563975"/>
            <a:chExt cx="2562042" cy="3047614"/>
          </a:xfrm>
        </p:grpSpPr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700BE894-0285-119D-4D69-B16C60606B87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4DA0B76-5598-9939-CD11-681A492C6F41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6D0F7E46-E4FB-7622-5748-78C4C804B1F6}"/>
              </a:ext>
            </a:extLst>
          </p:cNvPr>
          <p:cNvSpPr/>
          <p:nvPr/>
        </p:nvSpPr>
        <p:spPr>
          <a:xfrm>
            <a:off x="570237" y="208859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BBDF-C61E-3E1B-63E7-05FDCA6EDDD0}"/>
              </a:ext>
            </a:extLst>
          </p:cNvPr>
          <p:cNvSpPr txBox="1">
            <a:spLocks/>
          </p:cNvSpPr>
          <p:nvPr/>
        </p:nvSpPr>
        <p:spPr>
          <a:xfrm>
            <a:off x="376993" y="3961868"/>
            <a:ext cx="3721246" cy="18937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/>
              <a:t>No support for stored procedures or triggers</a:t>
            </a:r>
          </a:p>
          <a:p>
            <a:pPr lvl="1"/>
            <a:r>
              <a:rPr lang="en-US" sz="1800"/>
              <a:t>Some limitations in query optimization and execution plans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6F9131-0AFE-A911-7C42-9782D65951A5}"/>
              </a:ext>
            </a:extLst>
          </p:cNvPr>
          <p:cNvSpPr/>
          <p:nvPr/>
        </p:nvSpPr>
        <p:spPr>
          <a:xfrm>
            <a:off x="609209" y="57946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Compatibility</a:t>
            </a:r>
            <a:endParaRPr lang="en-US" sz="360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803DF762-7595-5037-D858-6CFBC1A4EA8C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40ECE77-0226-F85A-3E8E-A2BDCA78548C}"/>
              </a:ext>
            </a:extLst>
          </p:cNvPr>
          <p:cNvSpPr txBox="1">
            <a:spLocks/>
          </p:cNvSpPr>
          <p:nvPr/>
        </p:nvSpPr>
        <p:spPr>
          <a:xfrm>
            <a:off x="3225866" y="1407219"/>
            <a:ext cx="7559040" cy="12911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Which SQL standard does </a:t>
            </a:r>
            <a:r>
              <a:rPr lang="en-US" err="1"/>
              <a:t>TiDB</a:t>
            </a:r>
            <a:r>
              <a:rPr lang="en-US"/>
              <a:t> target?</a:t>
            </a:r>
            <a:endParaRPr lang="en-US" sz="2000"/>
          </a:p>
          <a:p>
            <a:r>
              <a:rPr lang="en-US" sz="2000"/>
              <a:t>Designed for </a:t>
            </a:r>
            <a:r>
              <a:rPr lang="en-US" sz="2000" b="1"/>
              <a:t>MySQL compatibility</a:t>
            </a:r>
          </a:p>
          <a:p>
            <a:pPr>
              <a:spcBef>
                <a:spcPts val="0"/>
              </a:spcBef>
            </a:pPr>
            <a:r>
              <a:rPr lang="en-US" sz="2000"/>
              <a:t> Supports MySQL protocol, syntax, and ecosystem</a:t>
            </a:r>
            <a:endParaRPr lang="en-US" sz="1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0FBE1C-41E9-EC8A-8A61-88730F70BEF9}"/>
              </a:ext>
            </a:extLst>
          </p:cNvPr>
          <p:cNvSpPr txBox="1">
            <a:spLocks/>
          </p:cNvSpPr>
          <p:nvPr/>
        </p:nvSpPr>
        <p:spPr>
          <a:xfrm>
            <a:off x="4098240" y="4159635"/>
            <a:ext cx="3809811" cy="22702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/>
              <a:t>PostgreSQL apps → require modifications</a:t>
            </a:r>
          </a:p>
          <a:p>
            <a:pPr lvl="1"/>
            <a:r>
              <a:rPr lang="en-US" sz="1800"/>
              <a:t>  MySQL apps → minimal or no code changes</a:t>
            </a:r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99B3E4-7740-8C1A-5422-33B89549FB97}"/>
              </a:ext>
            </a:extLst>
          </p:cNvPr>
          <p:cNvSpPr txBox="1">
            <a:spLocks/>
          </p:cNvSpPr>
          <p:nvPr/>
        </p:nvSpPr>
        <p:spPr>
          <a:xfrm>
            <a:off x="8359326" y="3846580"/>
            <a:ext cx="3550751" cy="20971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Slower for queries with heavy cross-node data movement</a:t>
            </a:r>
          </a:p>
          <a:p>
            <a:pPr lvl="1"/>
            <a:r>
              <a:rPr lang="en-US" sz="1800"/>
              <a:t>Large JOINs</a:t>
            </a:r>
          </a:p>
          <a:p>
            <a:pPr lvl="1"/>
            <a:r>
              <a:rPr lang="en-US" sz="1800"/>
              <a:t>Global sorting</a:t>
            </a:r>
          </a:p>
          <a:p>
            <a:pPr lvl="1"/>
            <a:r>
              <a:rPr lang="en-US" sz="1800"/>
              <a:t>COUNT(DISTINCT)</a:t>
            </a:r>
          </a:p>
          <a:p>
            <a:pPr lvl="1"/>
            <a:r>
              <a:rPr lang="en-US" sz="1800"/>
              <a:t>Complex CTEs</a:t>
            </a:r>
          </a:p>
          <a:p>
            <a:pPr lvl="1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5F859-B886-E806-E2F6-AE66CCFB6CEB}"/>
              </a:ext>
            </a:extLst>
          </p:cNvPr>
          <p:cNvSpPr txBox="1"/>
          <p:nvPr/>
        </p:nvSpPr>
        <p:spPr>
          <a:xfrm>
            <a:off x="735797" y="3349872"/>
            <a:ext cx="3550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features missing or limited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80FD7-AAA0-D0DB-8496-8133F410D891}"/>
              </a:ext>
            </a:extLst>
          </p:cNvPr>
          <p:cNvSpPr txBox="1"/>
          <p:nvPr/>
        </p:nvSpPr>
        <p:spPr>
          <a:xfrm>
            <a:off x="4905540" y="3337378"/>
            <a:ext cx="2865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Migration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5E5F0C-5B94-183D-C89A-07ED5A0D00CB}"/>
              </a:ext>
            </a:extLst>
          </p:cNvPr>
          <p:cNvSpPr txBox="1"/>
          <p:nvPr/>
        </p:nvSpPr>
        <p:spPr>
          <a:xfrm>
            <a:off x="7836147" y="3210978"/>
            <a:ext cx="4355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 Performance</a:t>
            </a:r>
          </a:p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11286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22AF-4DDB-6186-7673-22A5059D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DF2C1ABA-AC25-232A-64F0-1FCCC8CDD2B7}"/>
              </a:ext>
            </a:extLst>
          </p:cNvPr>
          <p:cNvSpPr/>
          <p:nvPr/>
        </p:nvSpPr>
        <p:spPr>
          <a:xfrm>
            <a:off x="492063" y="22539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53C1-20D4-54CE-C9D8-2275CD327080}"/>
              </a:ext>
            </a:extLst>
          </p:cNvPr>
          <p:cNvSpPr txBox="1">
            <a:spLocks/>
          </p:cNvSpPr>
          <p:nvPr/>
        </p:nvSpPr>
        <p:spPr>
          <a:xfrm>
            <a:off x="570472" y="1601407"/>
            <a:ext cx="10477483" cy="342110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Horizontal scaling </a:t>
            </a:r>
          </a:p>
          <a:p>
            <a:r>
              <a:rPr lang="en-US" b="1">
                <a:ea typeface="+mn-lt"/>
                <a:cs typeface="+mn-lt"/>
              </a:rPr>
              <a:t>Automatic sharding</a:t>
            </a:r>
            <a:r>
              <a:rPr lang="en-US">
                <a:ea typeface="+mn-lt"/>
                <a:cs typeface="+mn-lt"/>
              </a:rPr>
              <a:t> → Data split into </a:t>
            </a:r>
            <a:r>
              <a:rPr lang="en-US" i="1">
                <a:ea typeface="+mn-lt"/>
                <a:cs typeface="+mn-lt"/>
              </a:rPr>
              <a:t>Regions (key ranges)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b="1">
                <a:ea typeface="+mn-lt"/>
                <a:cs typeface="+mn-lt"/>
              </a:rPr>
              <a:t>No manual intervention</a:t>
            </a:r>
            <a:r>
              <a:rPr lang="en-US">
                <a:ea typeface="+mn-lt"/>
                <a:cs typeface="+mn-lt"/>
              </a:rPr>
              <a:t> (unlike PostgreSQL sharding) </a:t>
            </a:r>
          </a:p>
          <a:p>
            <a:r>
              <a:rPr lang="en-US" b="1">
                <a:ea typeface="+mn-lt"/>
                <a:cs typeface="+mn-lt"/>
              </a:rPr>
              <a:t>Dynamic rebalancing</a:t>
            </a:r>
            <a:r>
              <a:rPr lang="en-US">
                <a:ea typeface="+mn-lt"/>
                <a:cs typeface="+mn-lt"/>
              </a:rPr>
              <a:t> via Placement Driver (PD): 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US">
                <a:ea typeface="+mn-lt"/>
                <a:cs typeface="+mn-lt"/>
              </a:rPr>
              <a:t>Redistributes Regions when nodes change.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US">
                <a:ea typeface="+mn-lt"/>
                <a:cs typeface="+mn-lt"/>
              </a:rPr>
              <a:t>Balances load + ensures availability.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DA107A2-25E7-C2AF-3E49-8512D7DDA9C3}"/>
              </a:ext>
            </a:extLst>
          </p:cNvPr>
          <p:cNvSpPr/>
          <p:nvPr/>
        </p:nvSpPr>
        <p:spPr>
          <a:xfrm>
            <a:off x="540785" y="5384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3200" b="1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</a:t>
            </a:r>
            <a:r>
              <a:rPr lang="en-US" sz="3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Scales?</a:t>
            </a:r>
            <a:endParaRPr lang="en-US" sz="320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43968B2D-EAE4-4903-0433-32E5275459E6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07076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2ABC-D6E3-EA15-6971-40A53964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7055F977-E13D-EE05-2ABF-4478A9F5049C}"/>
              </a:ext>
            </a:extLst>
          </p:cNvPr>
          <p:cNvGrpSpPr/>
          <p:nvPr/>
        </p:nvGrpSpPr>
        <p:grpSpPr>
          <a:xfrm>
            <a:off x="3726318" y="1429179"/>
            <a:ext cx="4941566" cy="2179547"/>
            <a:chOff x="369799" y="2835510"/>
            <a:chExt cx="2562041" cy="3047613"/>
          </a:xfrm>
        </p:grpSpPr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1EF514DD-68E7-1255-6923-705EA1297973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763C974A-0E01-9243-9A6D-F8BDD721F933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7F54AC18-E3A2-831F-D0EE-6AD4FD16DE51}"/>
              </a:ext>
            </a:extLst>
          </p:cNvPr>
          <p:cNvSpPr/>
          <p:nvPr/>
        </p:nvSpPr>
        <p:spPr>
          <a:xfrm>
            <a:off x="663704" y="20593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C0577B-5671-47A2-44EC-0BEC578D0047}"/>
              </a:ext>
            </a:extLst>
          </p:cNvPr>
          <p:cNvSpPr/>
          <p:nvPr/>
        </p:nvSpPr>
        <p:spPr>
          <a:xfrm>
            <a:off x="663704" y="53501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D1B2A"/>
                </a:solidFill>
                <a:ea typeface="+mn-lt"/>
                <a:cs typeface="+mn-lt"/>
              </a:rPr>
              <a:t>Consistency &amp; Transactions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ED52750-F1D6-0559-123B-D27379C4F2CF}"/>
              </a:ext>
            </a:extLst>
          </p:cNvPr>
          <p:cNvSpPr/>
          <p:nvPr/>
        </p:nvSpPr>
        <p:spPr>
          <a:xfrm>
            <a:off x="0" y="-1270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D89536-DBF9-2455-A1AC-D788AD2B3EB5}"/>
              </a:ext>
            </a:extLst>
          </p:cNvPr>
          <p:cNvGrpSpPr/>
          <p:nvPr/>
        </p:nvGrpSpPr>
        <p:grpSpPr>
          <a:xfrm>
            <a:off x="663704" y="3930349"/>
            <a:ext cx="4941566" cy="2123603"/>
            <a:chOff x="-669164" y="2563975"/>
            <a:chExt cx="2562042" cy="2675831"/>
          </a:xfrm>
        </p:grpSpPr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99504E2F-F125-DE8E-E87E-856CE596AC73}"/>
                </a:ext>
              </a:extLst>
            </p:cNvPr>
            <p:cNvSpPr/>
            <p:nvPr/>
          </p:nvSpPr>
          <p:spPr>
            <a:xfrm>
              <a:off x="-669163" y="2563976"/>
              <a:ext cx="2562041" cy="267583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203DE1BE-FE76-FF3F-BC21-158D4FC498C9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60566D-E030-392A-70D4-BD27F72F74BC}"/>
              </a:ext>
            </a:extLst>
          </p:cNvPr>
          <p:cNvGrpSpPr/>
          <p:nvPr/>
        </p:nvGrpSpPr>
        <p:grpSpPr>
          <a:xfrm>
            <a:off x="6531781" y="3913127"/>
            <a:ext cx="4941563" cy="2123602"/>
            <a:chOff x="-669164" y="2563975"/>
            <a:chExt cx="2562042" cy="3047614"/>
          </a:xfrm>
        </p:grpSpPr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86499A10-6A42-1754-4DDE-C48C7CBC9347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39FC1024-FF7B-199D-04E3-F567FC035EFD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6090072-0A0D-FCDB-8D2D-4FFABE864876}"/>
              </a:ext>
            </a:extLst>
          </p:cNvPr>
          <p:cNvSpPr txBox="1"/>
          <p:nvPr/>
        </p:nvSpPr>
        <p:spPr>
          <a:xfrm>
            <a:off x="718656" y="3975455"/>
            <a:ext cx="337394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Distributed Transactions</a:t>
            </a:r>
            <a:endParaRPr lang="en-US" sz="20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BB65A8-B12B-AFDE-AF20-9F943BE4077F}"/>
              </a:ext>
            </a:extLst>
          </p:cNvPr>
          <p:cNvSpPr txBox="1"/>
          <p:nvPr/>
        </p:nvSpPr>
        <p:spPr>
          <a:xfrm>
            <a:off x="6571433" y="3928536"/>
            <a:ext cx="194538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Trade-offs</a:t>
            </a:r>
            <a:endParaRPr lang="en-US" sz="2000" b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CE475B-D52B-6864-64E8-470A0EE70569}"/>
              </a:ext>
            </a:extLst>
          </p:cNvPr>
          <p:cNvSpPr txBox="1"/>
          <p:nvPr/>
        </p:nvSpPr>
        <p:spPr>
          <a:xfrm>
            <a:off x="3726318" y="1458591"/>
            <a:ext cx="609447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Isolation Levels</a:t>
            </a:r>
            <a:endParaRPr lang="en-US" sz="20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4657C2-6F71-7588-B668-20DB321A27A3}"/>
              </a:ext>
            </a:extLst>
          </p:cNvPr>
          <p:cNvSpPr txBox="1"/>
          <p:nvPr/>
        </p:nvSpPr>
        <p:spPr>
          <a:xfrm>
            <a:off x="3772524" y="2155925"/>
            <a:ext cx="4910787" cy="13464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Default: </a:t>
            </a:r>
            <a:r>
              <a:rPr lang="en-US" sz="1600" b="1" kern="100">
                <a:ea typeface="+mn-lt"/>
                <a:cs typeface="+mn-lt"/>
              </a:rPr>
              <a:t>Repeatable Read </a:t>
            </a:r>
            <a:r>
              <a:rPr lang="en-US" sz="1600" b="1" kern="100">
                <a:effectLst/>
                <a:ea typeface="+mn-lt"/>
                <a:cs typeface="+mn-lt"/>
              </a:rPr>
              <a:t>(</a:t>
            </a:r>
            <a:r>
              <a:rPr lang="en-US" sz="1600" b="1" kern="100">
                <a:ea typeface="+mn-lt"/>
                <a:cs typeface="+mn-lt"/>
              </a:rPr>
              <a:t>Snapshot Isolation</a:t>
            </a:r>
            <a:r>
              <a:rPr lang="en-US" sz="1600" b="1" kern="100">
                <a:effectLst/>
                <a:ea typeface="+mn-lt"/>
                <a:cs typeface="+mn-lt"/>
              </a:rPr>
              <a:t>)</a:t>
            </a:r>
            <a:r>
              <a:rPr lang="en-US" sz="1600" kern="100">
                <a:effectLst/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Also supports: </a:t>
            </a:r>
            <a:r>
              <a:rPr lang="en-US" sz="1600" b="1" kern="100">
                <a:ea typeface="+mn-lt"/>
                <a:cs typeface="+mn-lt"/>
              </a:rPr>
              <a:t>Read Committed</a:t>
            </a:r>
            <a:r>
              <a:rPr lang="en-US" sz="1600" kern="100">
                <a:ea typeface="+mn-lt"/>
                <a:cs typeface="+mn-lt"/>
              </a:rPr>
              <a:t>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Ensures consistent reads within </a:t>
            </a:r>
            <a:r>
              <a:rPr lang="en-US" sz="1600" kern="100">
                <a:effectLst/>
                <a:ea typeface="+mn-lt"/>
                <a:cs typeface="+mn-lt"/>
              </a:rPr>
              <a:t>a </a:t>
            </a:r>
            <a:r>
              <a:rPr lang="en-US" sz="1600" kern="100">
                <a:ea typeface="+mn-lt"/>
                <a:cs typeface="+mn-lt"/>
              </a:rPr>
              <a:t>transaction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Prevents dirty reads and inconsistencies</a:t>
            </a:r>
            <a:endParaRPr lang="en-US"/>
          </a:p>
          <a:p>
            <a:pPr marR="0">
              <a:lnSpc>
                <a:spcPct val="114999"/>
              </a:lnSpc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DA108E-5967-FF96-042C-D7181D295B11}"/>
              </a:ext>
            </a:extLst>
          </p:cNvPr>
          <p:cNvSpPr txBox="1"/>
          <p:nvPr/>
        </p:nvSpPr>
        <p:spPr>
          <a:xfrm>
            <a:off x="718656" y="4554382"/>
            <a:ext cx="4831663" cy="13464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Uses </a:t>
            </a:r>
            <a:r>
              <a:rPr lang="en-US" sz="1600" b="1" kern="100">
                <a:ea typeface="+mn-lt"/>
                <a:cs typeface="+mn-lt"/>
              </a:rPr>
              <a:t>Two-Phase Commit </a:t>
            </a:r>
            <a:r>
              <a:rPr lang="en-US" sz="1600" b="1" kern="100">
                <a:effectLst/>
                <a:ea typeface="+mn-lt"/>
                <a:cs typeface="+mn-lt"/>
              </a:rPr>
              <a:t>(</a:t>
            </a:r>
            <a:r>
              <a:rPr lang="en-US" sz="1600" b="1" kern="100">
                <a:ea typeface="+mn-lt"/>
                <a:cs typeface="+mn-lt"/>
              </a:rPr>
              <a:t>2PC</a:t>
            </a:r>
            <a:r>
              <a:rPr lang="en-US" sz="1600" b="1" kern="100">
                <a:effectLst/>
                <a:ea typeface="+mn-lt"/>
                <a:cs typeface="+mn-lt"/>
              </a:rPr>
              <a:t>)</a:t>
            </a:r>
            <a:r>
              <a:rPr lang="en-US" sz="1600" kern="100">
                <a:ea typeface="+mn-lt"/>
                <a:cs typeface="+mn-lt"/>
              </a:rPr>
              <a:t>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Coordinates transactions across multiple nodes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Works with Raft for replication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Guarantees atomicity </a:t>
            </a:r>
            <a:r>
              <a:rPr lang="en-US" sz="1600" kern="100">
                <a:effectLst/>
                <a:ea typeface="+mn-lt"/>
                <a:cs typeface="+mn-lt"/>
              </a:rPr>
              <a:t>and </a:t>
            </a:r>
            <a:r>
              <a:rPr lang="en-US" sz="1600" kern="100">
                <a:ea typeface="+mn-lt"/>
                <a:cs typeface="+mn-lt"/>
              </a:rPr>
              <a:t>consistency</a:t>
            </a:r>
            <a:endParaRPr lang="en-US"/>
          </a:p>
          <a:p>
            <a:pPr marL="285750" indent="-285750">
              <a:lnSpc>
                <a:spcPct val="114999"/>
              </a:lnSpc>
              <a:buFont typeface="Arial" panose="020B0604020202020204" pitchFamily="34" charset="0"/>
              <a:buChar char="•"/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89B689-3E4B-F27D-CCD4-A4F5E8B1134D}"/>
              </a:ext>
            </a:extLst>
          </p:cNvPr>
          <p:cNvSpPr txBox="1"/>
          <p:nvPr/>
        </p:nvSpPr>
        <p:spPr>
          <a:xfrm>
            <a:off x="6571433" y="4648456"/>
            <a:ext cx="4773052" cy="13464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Strong consistency increases </a:t>
            </a:r>
            <a:r>
              <a:rPr lang="en-US" sz="1600" b="1" kern="100">
                <a:ea typeface="+mn-lt"/>
                <a:cs typeface="+mn-lt"/>
              </a:rPr>
              <a:t>latency</a:t>
            </a:r>
            <a:r>
              <a:rPr lang="en-US" sz="1600" kern="100">
                <a:ea typeface="+mn-lt"/>
                <a:cs typeface="+mn-lt"/>
              </a:rPr>
              <a:t>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Reduces </a:t>
            </a:r>
            <a:r>
              <a:rPr lang="en-US" sz="1600" b="1" kern="100">
                <a:ea typeface="+mn-lt"/>
                <a:cs typeface="+mn-lt"/>
              </a:rPr>
              <a:t>throughput</a:t>
            </a:r>
            <a:r>
              <a:rPr lang="en-US" sz="1600" kern="100">
                <a:ea typeface="+mn-lt"/>
                <a:cs typeface="+mn-lt"/>
              </a:rPr>
              <a:t> vs AP systems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More coordination between </a:t>
            </a:r>
            <a:r>
              <a:rPr lang="en-US" sz="1600" kern="100">
                <a:effectLst/>
                <a:ea typeface="+mn-lt"/>
                <a:cs typeface="+mn-lt"/>
              </a:rPr>
              <a:t>nodes</a:t>
            </a:r>
            <a:r>
              <a:rPr lang="en-US" sz="1600" kern="100">
                <a:ea typeface="+mn-lt"/>
                <a:cs typeface="+mn-lt"/>
              </a:rPr>
              <a:t> required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Trade-off: </a:t>
            </a:r>
            <a:r>
              <a:rPr lang="en-US" sz="1600" b="1" kern="100">
                <a:ea typeface="+mn-lt"/>
                <a:cs typeface="+mn-lt"/>
              </a:rPr>
              <a:t>Consistency vs Performance</a:t>
            </a:r>
            <a:endParaRPr lang="en-US"/>
          </a:p>
          <a:p>
            <a:pPr marL="285750" marR="0" indent="-285750">
              <a:lnSpc>
                <a:spcPct val="114999"/>
              </a:lnSpc>
              <a:buFont typeface="Arial" panose="020B0604020202020204" pitchFamily="34" charset="0"/>
              <a:buChar char="•"/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04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DC5E-BFD4-1A4F-DC39-ECD652E7D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EEDFA5FF-515F-C741-0435-B25837BF7F0E}"/>
              </a:ext>
            </a:extLst>
          </p:cNvPr>
          <p:cNvSpPr/>
          <p:nvPr/>
        </p:nvSpPr>
        <p:spPr>
          <a:xfrm>
            <a:off x="539496" y="26090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B4F3362-B396-3DDF-B8B1-A18E73781692}"/>
              </a:ext>
            </a:extLst>
          </p:cNvPr>
          <p:cNvSpPr/>
          <p:nvPr/>
        </p:nvSpPr>
        <p:spPr>
          <a:xfrm>
            <a:off x="415885" y="295891"/>
            <a:ext cx="11360230" cy="81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D1B2A"/>
                </a:solidFill>
                <a:ea typeface="+mn-lt"/>
                <a:cs typeface="+mn-lt"/>
              </a:rPr>
              <a:t> Comparison Table: </a:t>
            </a:r>
            <a:r>
              <a:rPr lang="en-US" sz="3600" b="1" err="1">
                <a:solidFill>
                  <a:srgbClr val="0D1B2A"/>
                </a:solidFill>
                <a:ea typeface="+mn-lt"/>
                <a:cs typeface="+mn-lt"/>
              </a:rPr>
              <a:t>TiDB</a:t>
            </a:r>
            <a:r>
              <a:rPr lang="en-US" sz="3600" b="1">
                <a:solidFill>
                  <a:srgbClr val="0D1B2A"/>
                </a:solidFill>
                <a:ea typeface="+mn-lt"/>
                <a:cs typeface="+mn-lt"/>
              </a:rPr>
              <a:t> vs PostgreSQL and Cassandra</a:t>
            </a:r>
            <a:endParaRPr lang="en-US" sz="2000" b="1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E87654D4-31F9-E208-8B5A-9827BBE8BAC5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D8AB3A6-EF6B-BC80-FC3B-0B092C5CC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743" y="985759"/>
            <a:ext cx="9210514" cy="561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98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6FE6-530D-D943-A77F-6B496FB9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B0C021D0-4258-856F-C86F-3B4C16FA0493}"/>
              </a:ext>
            </a:extLst>
          </p:cNvPr>
          <p:cNvSpPr/>
          <p:nvPr/>
        </p:nvSpPr>
        <p:spPr>
          <a:xfrm>
            <a:off x="539496" y="26090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1EAD5-45A8-E4E6-7BD3-BCA427F756A9}"/>
              </a:ext>
            </a:extLst>
          </p:cNvPr>
          <p:cNvSpPr txBox="1">
            <a:spLocks/>
          </p:cNvSpPr>
          <p:nvPr/>
        </p:nvSpPr>
        <p:spPr>
          <a:xfrm>
            <a:off x="469392" y="1445958"/>
            <a:ext cx="10515600" cy="471749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Can replace: </a:t>
            </a:r>
            <a:endParaRPr lang="en-US"/>
          </a:p>
          <a:p>
            <a:pPr lvl="2">
              <a:buFont typeface="Wingdings" panose="020B0604020202020204" pitchFamily="34" charset="0"/>
              <a:buChar char="Ø"/>
            </a:pPr>
            <a:r>
              <a:rPr lang="en-US" sz="2400" b="1">
                <a:ea typeface="+mn-lt"/>
                <a:cs typeface="+mn-lt"/>
              </a:rPr>
              <a:t>PostgreSQL shards (sales layer)</a:t>
            </a:r>
            <a:r>
              <a:rPr lang="en-US" sz="2400">
                <a:ea typeface="+mn-lt"/>
                <a:cs typeface="+mn-lt"/>
              </a:rPr>
              <a:t> </a:t>
            </a:r>
          </a:p>
          <a:p>
            <a:pPr lvl="2">
              <a:buFont typeface="Wingdings" panose="020B0604020202020204" pitchFamily="34" charset="0"/>
              <a:buChar char="Ø"/>
            </a:pPr>
            <a:r>
              <a:rPr lang="en-US" sz="2400">
                <a:ea typeface="+mn-lt"/>
                <a:cs typeface="+mn-lt"/>
              </a:rPr>
              <a:t>Potentially reduce need for warehouse </a:t>
            </a:r>
            <a:endParaRPr lang="en-US" sz="2400"/>
          </a:p>
          <a:p>
            <a:r>
              <a:rPr lang="en-US">
                <a:ea typeface="+mn-lt"/>
                <a:cs typeface="+mn-lt"/>
              </a:rPr>
              <a:t>Provides: </a:t>
            </a:r>
            <a:endParaRPr lang="en-US"/>
          </a:p>
          <a:p>
            <a:pPr lvl="2">
              <a:buFont typeface="Wingdings" panose="020B0604020202020204" pitchFamily="34" charset="0"/>
              <a:buChar char="Ø"/>
            </a:pPr>
            <a:r>
              <a:rPr lang="en-US" sz="2800">
                <a:ea typeface="+mn-lt"/>
                <a:cs typeface="+mn-lt"/>
              </a:rPr>
              <a:t>Single unified database instead of multiple shards </a:t>
            </a:r>
            <a:endParaRPr lang="en-US" sz="2800"/>
          </a:p>
          <a:p>
            <a:r>
              <a:rPr lang="en-US">
                <a:ea typeface="+mn-lt"/>
                <a:cs typeface="+mn-lt"/>
              </a:rPr>
              <a:t>Simplifies: </a:t>
            </a:r>
            <a:endParaRPr lang="en-US"/>
          </a:p>
          <a:p>
            <a:pPr lvl="2">
              <a:buFont typeface="Wingdings" panose="020B0604020202020204" pitchFamily="34" charset="0"/>
              <a:buChar char="Ø"/>
            </a:pPr>
            <a:r>
              <a:rPr lang="en-US" sz="2400">
                <a:ea typeface="+mn-lt"/>
                <a:cs typeface="+mn-lt"/>
              </a:rPr>
              <a:t>Query routing </a:t>
            </a:r>
            <a:endParaRPr lang="en-US" sz="2400"/>
          </a:p>
          <a:p>
            <a:pPr lvl="2">
              <a:buFont typeface="Wingdings" panose="020B0604020202020204" pitchFamily="34" charset="0"/>
              <a:buChar char="Ø"/>
            </a:pPr>
            <a:r>
              <a:rPr lang="en-US" sz="2400">
                <a:ea typeface="+mn-lt"/>
                <a:cs typeface="+mn-lt"/>
              </a:rPr>
              <a:t>Application logic </a:t>
            </a:r>
            <a:endParaRPr lang="en-US" sz="2400"/>
          </a:p>
          <a:p>
            <a:r>
              <a:rPr lang="en-US">
                <a:ea typeface="+mn-lt"/>
                <a:cs typeface="+mn-lt"/>
              </a:rPr>
              <a:t>Supports: </a:t>
            </a:r>
          </a:p>
          <a:p>
            <a:pPr lvl="2">
              <a:buFont typeface="Wingdings" panose="020B0604020202020204" pitchFamily="34" charset="0"/>
              <a:buChar char="Ø"/>
            </a:pPr>
            <a:r>
              <a:rPr lang="en-US" sz="2400" b="1">
                <a:ea typeface="+mn-lt"/>
                <a:cs typeface="+mn-lt"/>
              </a:rPr>
              <a:t>Hybrid workload (OLTP + OLAP</a:t>
            </a:r>
            <a:r>
              <a:rPr lang="en-US" b="1">
                <a:ea typeface="+mn-lt"/>
                <a:cs typeface="+mn-lt"/>
              </a:rPr>
              <a:t>)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BF86A57-BF4D-CD61-260C-196496396B17}"/>
              </a:ext>
            </a:extLst>
          </p:cNvPr>
          <p:cNvSpPr/>
          <p:nvPr/>
        </p:nvSpPr>
        <p:spPr>
          <a:xfrm>
            <a:off x="539496" y="558387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err="1">
                <a:solidFill>
                  <a:srgbClr val="0D1B2A"/>
                </a:solidFill>
                <a:ea typeface="+mn-lt"/>
                <a:cs typeface="+mn-lt"/>
              </a:rPr>
              <a:t>TechRetail</a:t>
            </a:r>
            <a:r>
              <a:rPr lang="en-US" sz="3200" b="1">
                <a:solidFill>
                  <a:srgbClr val="0D1B2A"/>
                </a:solidFill>
                <a:ea typeface="+mn-lt"/>
                <a:cs typeface="+mn-lt"/>
              </a:rPr>
              <a:t> Fit</a:t>
            </a:r>
            <a:endParaRPr lang="en-US" b="1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C9CF665-752F-03AF-E573-6A37BFF87058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4089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9DC8C-7172-49F2-E580-D58D6DDA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B06DFFC-482E-7636-CD51-99F75944B7FA}"/>
              </a:ext>
            </a:extLst>
          </p:cNvPr>
          <p:cNvGrpSpPr/>
          <p:nvPr/>
        </p:nvGrpSpPr>
        <p:grpSpPr>
          <a:xfrm>
            <a:off x="6252622" y="1343391"/>
            <a:ext cx="4941566" cy="2544097"/>
            <a:chOff x="369799" y="2835510"/>
            <a:chExt cx="2562041" cy="3047613"/>
          </a:xfrm>
        </p:grpSpPr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AD964067-F842-40B5-B034-E47134BA25D4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9FE9E98B-B92B-C87E-65CD-0ED7E3DF332F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C3587D3A-FC4D-F1E5-D5BD-294476BD69C7}"/>
              </a:ext>
            </a:extLst>
          </p:cNvPr>
          <p:cNvSpPr/>
          <p:nvPr/>
        </p:nvSpPr>
        <p:spPr>
          <a:xfrm>
            <a:off x="663704" y="20593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600">
              <a:solidFill>
                <a:srgbClr val="860000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18BB3B-2B71-B993-C164-A1C635D67D49}"/>
              </a:ext>
            </a:extLst>
          </p:cNvPr>
          <p:cNvSpPr/>
          <p:nvPr/>
        </p:nvSpPr>
        <p:spPr>
          <a:xfrm>
            <a:off x="703288" y="984003"/>
            <a:ext cx="8372896" cy="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Should </a:t>
            </a:r>
            <a:r>
              <a:rPr lang="en-US" sz="32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TechRetail</a:t>
            </a:r>
            <a:r>
              <a:rPr lang="en-US" sz="3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 Use </a:t>
            </a:r>
            <a:r>
              <a:rPr lang="en-US" sz="32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TiDB</a:t>
            </a:r>
            <a:r>
              <a:rPr lang="en-US" sz="3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?</a:t>
            </a:r>
            <a:endParaRPr lang="en-US" sz="3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3600">
              <a:solidFill>
                <a:srgbClr val="0D1B2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68C7-2A84-0408-E284-521C05749EF8}"/>
              </a:ext>
            </a:extLst>
          </p:cNvPr>
          <p:cNvSpPr txBox="1">
            <a:spLocks/>
          </p:cNvSpPr>
          <p:nvPr/>
        </p:nvSpPr>
        <p:spPr>
          <a:xfrm>
            <a:off x="2578608" y="664814"/>
            <a:ext cx="8485632" cy="1950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C9807FC-E80F-BF90-2555-892D64C88871}"/>
              </a:ext>
            </a:extLst>
          </p:cNvPr>
          <p:cNvSpPr/>
          <p:nvPr/>
        </p:nvSpPr>
        <p:spPr>
          <a:xfrm>
            <a:off x="0" y="-1270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90FA18-7E1C-F0AF-4ED3-42408A965BE5}"/>
              </a:ext>
            </a:extLst>
          </p:cNvPr>
          <p:cNvGrpSpPr/>
          <p:nvPr/>
        </p:nvGrpSpPr>
        <p:grpSpPr>
          <a:xfrm>
            <a:off x="663706" y="1406111"/>
            <a:ext cx="4941566" cy="2544097"/>
            <a:chOff x="369799" y="2835510"/>
            <a:chExt cx="2562041" cy="3047613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14F6DBA9-DEB1-BB53-261F-BE22E697FB9F}"/>
                </a:ext>
              </a:extLst>
            </p:cNvPr>
            <p:cNvSpPr/>
            <p:nvPr/>
          </p:nvSpPr>
          <p:spPr>
            <a:xfrm>
              <a:off x="369799" y="2835510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r>
                <a:rPr lang="en-US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2015</a:t>
              </a:r>
              <a:endParaRPr lang="en-US"/>
            </a:p>
            <a:p>
              <a:pPr algn="just"/>
              <a:endParaRPr lang="en-US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41333DB7-152D-34A4-D443-F8D9571A754A}"/>
                </a:ext>
              </a:extLst>
            </p:cNvPr>
            <p:cNvSpPr/>
            <p:nvPr/>
          </p:nvSpPr>
          <p:spPr>
            <a:xfrm>
              <a:off x="369799" y="2835510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E2105C9-D71D-006B-ABEF-8762850F6587}"/>
              </a:ext>
            </a:extLst>
          </p:cNvPr>
          <p:cNvSpPr txBox="1"/>
          <p:nvPr/>
        </p:nvSpPr>
        <p:spPr>
          <a:xfrm>
            <a:off x="718656" y="1485894"/>
            <a:ext cx="2265657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Where It Fits ?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6DD8FD-0755-3EC2-F6BE-D66EECA067F0}"/>
              </a:ext>
            </a:extLst>
          </p:cNvPr>
          <p:cNvSpPr txBox="1"/>
          <p:nvPr/>
        </p:nvSpPr>
        <p:spPr>
          <a:xfrm>
            <a:off x="718656" y="2224107"/>
            <a:ext cx="4941564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Replace </a:t>
            </a:r>
            <a:r>
              <a:rPr lang="en-US" sz="1600" b="1">
                <a:ea typeface="+mn-lt"/>
                <a:cs typeface="+mn-lt"/>
              </a:rPr>
              <a:t>PostgreSQL sales shards</a:t>
            </a:r>
            <a:r>
              <a:rPr lang="en-US" sz="1600">
                <a:ea typeface="+mn-lt"/>
                <a:cs typeface="+mn-lt"/>
              </a:rPr>
              <a:t> 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Reduce dependency on separate warehouse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Single unified distributed database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Simplifies application architecture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 sz="16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02061E-DFB7-5433-08E1-37D5984BEA33}"/>
              </a:ext>
            </a:extLst>
          </p:cNvPr>
          <p:cNvGrpSpPr/>
          <p:nvPr/>
        </p:nvGrpSpPr>
        <p:grpSpPr>
          <a:xfrm>
            <a:off x="663702" y="4258536"/>
            <a:ext cx="4941566" cy="2418659"/>
            <a:chOff x="-669164" y="2563975"/>
            <a:chExt cx="2562042" cy="3047614"/>
          </a:xfrm>
        </p:grpSpPr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33A54437-E608-68B8-6CBB-D837FA65F822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E0D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49E4CAD4-4656-6909-C53B-BA8F59F2D054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2D25AF-1567-5B28-5EA3-79CA23991D52}"/>
              </a:ext>
            </a:extLst>
          </p:cNvPr>
          <p:cNvGrpSpPr/>
          <p:nvPr/>
        </p:nvGrpSpPr>
        <p:grpSpPr>
          <a:xfrm>
            <a:off x="6288932" y="4220083"/>
            <a:ext cx="4941563" cy="2418659"/>
            <a:chOff x="-669164" y="2563975"/>
            <a:chExt cx="2562042" cy="3047614"/>
          </a:xfrm>
        </p:grpSpPr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7FC2DC2D-3DEB-4103-70E3-75838EE86D02}"/>
                </a:ext>
              </a:extLst>
            </p:cNvPr>
            <p:cNvSpPr/>
            <p:nvPr/>
          </p:nvSpPr>
          <p:spPr>
            <a:xfrm>
              <a:off x="-669163" y="2563976"/>
              <a:ext cx="2562041" cy="30476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6000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just"/>
              <a:endParaRPr lang="en-US"/>
            </a:p>
          </p:txBody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53248F66-353E-F2D4-CAB3-40EAE9F6FD80}"/>
                </a:ext>
              </a:extLst>
            </p:cNvPr>
            <p:cNvSpPr/>
            <p:nvPr/>
          </p:nvSpPr>
          <p:spPr>
            <a:xfrm>
              <a:off x="-669164" y="2563975"/>
              <a:ext cx="2562041" cy="579046"/>
            </a:xfrm>
            <a:prstGeom prst="rect">
              <a:avLst/>
            </a:prstGeom>
            <a:solidFill>
              <a:srgbClr val="860000"/>
            </a:solidFill>
            <a:ln w="12700">
              <a:solidFill>
                <a:srgbClr val="860000"/>
              </a:solidFill>
              <a:prstDash val="solid"/>
            </a:ln>
          </p:spPr>
          <p:txBody>
            <a:bodyPr/>
            <a:lstStyle/>
            <a:p>
              <a:pPr algn="just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BF27FF7-9CA4-2DE1-7EF8-FD2A0A291C1C}"/>
              </a:ext>
            </a:extLst>
          </p:cNvPr>
          <p:cNvSpPr txBox="1"/>
          <p:nvPr/>
        </p:nvSpPr>
        <p:spPr>
          <a:xfrm>
            <a:off x="703288" y="4274930"/>
            <a:ext cx="337394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Challenges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C8E01-AAE4-3091-2B05-1D1920FFD9BF}"/>
              </a:ext>
            </a:extLst>
          </p:cNvPr>
          <p:cNvSpPr txBox="1"/>
          <p:nvPr/>
        </p:nvSpPr>
        <p:spPr>
          <a:xfrm>
            <a:off x="6486262" y="4315985"/>
            <a:ext cx="194538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Final Verdict</a:t>
            </a:r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466EC3-6C57-8914-A42D-176591BDB7FB}"/>
              </a:ext>
            </a:extLst>
          </p:cNvPr>
          <p:cNvSpPr txBox="1"/>
          <p:nvPr/>
        </p:nvSpPr>
        <p:spPr>
          <a:xfrm>
            <a:off x="6294268" y="1439069"/>
            <a:ext cx="609447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Benefits</a:t>
            </a: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710FA9-9DD9-2BD8-B53E-6A6E50AEBB9A}"/>
              </a:ext>
            </a:extLst>
          </p:cNvPr>
          <p:cNvSpPr txBox="1"/>
          <p:nvPr/>
        </p:nvSpPr>
        <p:spPr>
          <a:xfrm>
            <a:off x="6288932" y="2070137"/>
            <a:ext cx="4900891" cy="15926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Automatic sharding &amp; rebalancing </a:t>
            </a:r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No manual data routing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Simplified ETL pipeline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Supports </a:t>
            </a:r>
            <a:r>
              <a:rPr lang="en-US" sz="1600" b="1" kern="100">
                <a:ea typeface="+mn-lt"/>
                <a:cs typeface="+mn-lt"/>
              </a:rPr>
              <a:t>OLTP + OLAP workloads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 sz="1600" kern="100"/>
          </a:p>
          <a:p>
            <a:pPr marR="0">
              <a:lnSpc>
                <a:spcPct val="114999"/>
              </a:lnSpc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E07D94-381F-759D-FF68-5556642BA449}"/>
              </a:ext>
            </a:extLst>
          </p:cNvPr>
          <p:cNvSpPr txBox="1"/>
          <p:nvPr/>
        </p:nvSpPr>
        <p:spPr>
          <a:xfrm>
            <a:off x="718656" y="4962885"/>
            <a:ext cx="4831663" cy="13464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Distributed system complexity </a:t>
            </a:r>
            <a:r>
              <a:rPr lang="en-US" sz="1600" kern="100">
                <a:effectLst/>
                <a:ea typeface="+mn-lt"/>
                <a:cs typeface="+mn-lt"/>
              </a:rPr>
              <a:t>(</a:t>
            </a:r>
            <a:r>
              <a:rPr lang="en-US" sz="1600" kern="100">
                <a:ea typeface="+mn-lt"/>
                <a:cs typeface="+mn-lt"/>
              </a:rPr>
              <a:t>Raft, coordination</a:t>
            </a:r>
            <a:r>
              <a:rPr lang="en-US" sz="1600" kern="100">
                <a:effectLst/>
                <a:ea typeface="+mn-lt"/>
                <a:cs typeface="+mn-lt"/>
              </a:rPr>
              <a:t>)</a:t>
            </a:r>
            <a:r>
              <a:rPr lang="en-US" sz="1600" kern="100"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Higher latency vs Cassandra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Requires cluster management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May not match warehouse for heavy analytics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4E3F2B-C956-6653-C07A-7E3CC117A9FB}"/>
              </a:ext>
            </a:extLst>
          </p:cNvPr>
          <p:cNvSpPr txBox="1"/>
          <p:nvPr/>
        </p:nvSpPr>
        <p:spPr>
          <a:xfrm>
            <a:off x="6291188" y="4969194"/>
            <a:ext cx="4773052" cy="18389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Best for </a:t>
            </a:r>
            <a:r>
              <a:rPr lang="en-US" sz="1600" b="1" kern="100">
                <a:ea typeface="+mn-lt"/>
                <a:cs typeface="+mn-lt"/>
              </a:rPr>
              <a:t>scalable, unified systems</a:t>
            </a:r>
            <a:r>
              <a:rPr lang="en-US" sz="1600" kern="100"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kern="100">
                <a:ea typeface="+mn-lt"/>
                <a:cs typeface="+mn-lt"/>
              </a:rPr>
              <a:t>Not ideal for </a:t>
            </a:r>
            <a:r>
              <a:rPr lang="en-US" sz="1600" b="1" kern="100">
                <a:ea typeface="+mn-lt"/>
                <a:cs typeface="+mn-lt"/>
              </a:rPr>
              <a:t>ultra-high-speed </a:t>
            </a:r>
            <a:r>
              <a:rPr lang="en-US" sz="1600" kern="100">
                <a:ea typeface="+mn-lt"/>
                <a:cs typeface="+mn-lt"/>
              </a:rPr>
              <a:t>or</a:t>
            </a:r>
            <a:r>
              <a:rPr lang="en-US" sz="1600" b="1" kern="100">
                <a:ea typeface="+mn-lt"/>
                <a:cs typeface="+mn-lt"/>
              </a:rPr>
              <a:t> heavy analytics workloads</a:t>
            </a:r>
            <a:r>
              <a:rPr lang="en-US" sz="1600" kern="100">
                <a:ea typeface="+mn-lt"/>
                <a:cs typeface="+mn-lt"/>
              </a:rPr>
              <a:t>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kern="100">
                <a:ea typeface="+mn-lt"/>
                <a:cs typeface="+mn-lt"/>
              </a:rPr>
              <a:t>Recommended for </a:t>
            </a:r>
            <a:r>
              <a:rPr lang="en-US" sz="1600" b="1" kern="100" err="1">
                <a:ea typeface="+mn-lt"/>
                <a:cs typeface="+mn-lt"/>
              </a:rPr>
              <a:t>TechRetail</a:t>
            </a:r>
            <a:r>
              <a:rPr lang="en-US" sz="1600" b="1" kern="100">
                <a:ea typeface="+mn-lt"/>
                <a:cs typeface="+mn-lt"/>
              </a:rPr>
              <a:t> sales layer modernization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 sz="1600" kern="100"/>
          </a:p>
          <a:p>
            <a:pPr marL="285750" marR="0" indent="-285750">
              <a:lnSpc>
                <a:spcPct val="114999"/>
              </a:lnSpc>
              <a:buFont typeface="Arial" panose="020B0604020202020204" pitchFamily="34" charset="0"/>
              <a:buChar char="•"/>
            </a:pPr>
            <a:endParaRPr lang="en-US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86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C82C-2F7C-A946-C1F1-7772CC7B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C8ADEA4B-207E-090F-9372-8D2C2C1D534A}"/>
              </a:ext>
            </a:extLst>
          </p:cNvPr>
          <p:cNvSpPr/>
          <p:nvPr/>
        </p:nvSpPr>
        <p:spPr>
          <a:xfrm>
            <a:off x="539496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err="1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</a:t>
            </a:r>
            <a:r>
              <a:rPr lang="en-US" sz="1600" b="1" kern="0" spc="300">
                <a:solidFill>
                  <a:srgbClr val="8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08F56F7-AB6A-A474-8BB2-FDFE8739A4A8}"/>
              </a:ext>
            </a:extLst>
          </p:cNvPr>
          <p:cNvSpPr/>
          <p:nvPr/>
        </p:nvSpPr>
        <p:spPr>
          <a:xfrm>
            <a:off x="422910" y="9399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80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E03D1D38-5089-232B-75E6-CBEB0718271B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60000"/>
          </a:solidFill>
          <a:ln w="12700">
            <a:solidFill>
              <a:srgbClr val="86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B3D01-C35A-2711-DEAF-B52AD1BB2B90}"/>
              </a:ext>
            </a:extLst>
          </p:cNvPr>
          <p:cNvSpPr txBox="1"/>
          <p:nvPr/>
        </p:nvSpPr>
        <p:spPr>
          <a:xfrm>
            <a:off x="422909" y="1870768"/>
            <a:ext cx="11122545" cy="22724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lnSpc>
                <a:spcPts val="1657"/>
              </a:lnSpc>
              <a:buNone/>
            </a:pPr>
            <a:r>
              <a:rPr lang="en-US" sz="1800" b="0" i="0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PingCAP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. 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TiDB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 Storage Documentation. </a:t>
            </a:r>
            <a:r>
              <a:rPr lang="en-US" sz="1800" b="0" i="0" u="sng" strike="noStrike">
                <a:solidFill>
                  <a:srgbClr val="467886"/>
                </a:solidFill>
                <a:effectLst/>
                <a:latin typeface="Times New Roman"/>
                <a:cs typeface="Times New Roman"/>
                <a:hlinkClick r:id="rId3"/>
              </a:rPr>
              <a:t>https://docs.pingcap.com/tidb/stable/tidb-storage/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  </a:t>
            </a:r>
            <a:endParaRPr lang="en-US" b="0" i="0"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  <a:p>
            <a:pPr algn="l" rtl="0" fontAlgn="base">
              <a:lnSpc>
                <a:spcPts val="1657"/>
              </a:lnSpc>
              <a:buNone/>
            </a:pP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657"/>
              </a:lnSpc>
              <a:buNone/>
            </a:pPr>
            <a:r>
              <a:rPr lang="en-US" sz="1800" b="0" i="0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PingCAP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. Transaction Isolation Levels. </a:t>
            </a:r>
            <a:r>
              <a:rPr lang="en-US" sz="1800" b="0" i="0" u="sng" strike="noStrike">
                <a:solidFill>
                  <a:srgbClr val="467886"/>
                </a:solidFill>
                <a:effectLst/>
                <a:latin typeface="Times New Roman"/>
                <a:cs typeface="Times New Roman"/>
                <a:hlinkClick r:id="rId4"/>
              </a:rPr>
              <a:t>https://docs.pingcap.com/tidb/stable/transaction-isolation-levels/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  </a:t>
            </a:r>
            <a:endParaRPr lang="en-US" b="0" i="0"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  <a:p>
            <a:pPr algn="l" rtl="0" fontAlgn="base">
              <a:lnSpc>
                <a:spcPts val="1657"/>
              </a:lnSpc>
              <a:buNone/>
            </a:pP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657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DBDB.io. 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TiDB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 Overview. </a:t>
            </a:r>
            <a:r>
              <a:rPr lang="en-US" sz="1800" b="0" i="0" u="sng" strike="noStrike">
                <a:solidFill>
                  <a:srgbClr val="467886"/>
                </a:solidFill>
                <a:effectLst/>
                <a:latin typeface="Times New Roman"/>
                <a:cs typeface="Times New Roman"/>
                <a:hlinkClick r:id="rId5"/>
              </a:rPr>
              <a:t>https://dbdb.io/db/tidb</a:t>
            </a:r>
            <a:r>
              <a:rPr lang="en-US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 </a:t>
            </a:r>
          </a:p>
          <a:p>
            <a:pPr>
              <a:lnSpc>
                <a:spcPts val="1657"/>
              </a:lnSpc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1657"/>
              </a:lnSpc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1657"/>
              </a:lnSpc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1657"/>
              </a:lnSpc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1657"/>
              </a:lnSpc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Git Repository: 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https://github.com/KarthikeyanAtmakuru/ism6562-Midterm_project_BigQuest_Query.git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4999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9456-D0A6-E768-8079-F5497232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9A2B0B51-56C1-E93F-A190-EC5BC1F9233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4730496" cy="6858000"/>
            <a:chOff x="0" y="0"/>
            <a:chExt cx="4730496" cy="6858000"/>
          </a:xfrm>
          <a:solidFill>
            <a:srgbClr val="0C0734"/>
          </a:solidFill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97D4B276-E3E2-00C7-D4FB-1C9BAB6626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32960" cy="685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EBC394CA-B456-FE67-53B8-577530A5A4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2960" y="0"/>
              <a:ext cx="97536" cy="685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1CDA3DA8-CE20-CF1C-78EB-C5197AC3C320}"/>
              </a:ext>
            </a:extLst>
          </p:cNvPr>
          <p:cNvSpPr/>
          <p:nvPr/>
        </p:nvSpPr>
        <p:spPr>
          <a:xfrm>
            <a:off x="5830824" y="770169"/>
            <a:ext cx="67056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 b="1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BB23A04-950E-9C14-A89C-D56C5C9B6AE1}"/>
              </a:ext>
            </a:extLst>
          </p:cNvPr>
          <p:cNvSpPr/>
          <p:nvPr/>
        </p:nvSpPr>
        <p:spPr>
          <a:xfrm>
            <a:off x="339630" y="4771299"/>
            <a:ext cx="4507175" cy="213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800" b="1"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800"/>
          </a:p>
        </p:txBody>
      </p:sp>
      <p:pic>
        <p:nvPicPr>
          <p:cNvPr id="6" name="Picture 5" descr="TiDB, powered by PingCAP | LinkedIn">
            <a:extLst>
              <a:ext uri="{FF2B5EF4-FFF2-40B4-BE49-F238E27FC236}">
                <a16:creationId xmlns:a16="http://schemas.microsoft.com/office/drawing/2014/main" id="{A6D95766-F0CB-555F-546C-BB468F80D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06" y="889776"/>
            <a:ext cx="3837512" cy="383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7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41bf7de-e2e5-46df-8d67-82607df9deaa}" enabled="0" method="" siteId="{741bf7de-e2e5-46df-8d67-82607df9d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2821</Words>
  <Application>Microsoft Office PowerPoint</Application>
  <PresentationFormat>Widescreen</PresentationFormat>
  <Paragraphs>319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Kadiatou Sogodogo</dc:creator>
  <cp:lastModifiedBy>Karthikeyan Atmakuru</cp:lastModifiedBy>
  <cp:revision>60</cp:revision>
  <dcterms:created xsi:type="dcterms:W3CDTF">2026-03-30T21:18:01Z</dcterms:created>
  <dcterms:modified xsi:type="dcterms:W3CDTF">2026-04-02T21:15:43Z</dcterms:modified>
</cp:coreProperties>
</file>